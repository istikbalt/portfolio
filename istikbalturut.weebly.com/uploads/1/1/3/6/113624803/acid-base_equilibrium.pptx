
<file path=[Content_Types].xml><?xml version="1.0" encoding="utf-8"?>
<Types xmlns="http://schemas.openxmlformats.org/package/2006/content-types"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8" r:id="rId43"/>
    <p:sldId id="297" r:id="rId44"/>
    <p:sldId id="299" r:id="rId45"/>
    <p:sldId id="300" r:id="rId46"/>
    <p:sldId id="301" r:id="rId47"/>
    <p:sldId id="302" r:id="rId48"/>
    <p:sldId id="303" r:id="rId49"/>
    <p:sldId id="306" r:id="rId50"/>
    <p:sldId id="304" r:id="rId51"/>
    <p:sldId id="307" r:id="rId52"/>
    <p:sldId id="305" r:id="rId5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96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561D8-B2A8-4593-AE98-E17A653DDD11}" type="datetimeFigureOut">
              <a:rPr lang="en-US" smtClean="0"/>
              <a:t>11/6/2017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37FF0-48AB-4AB6-BB17-EC95F4702C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6534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561D8-B2A8-4593-AE98-E17A653DDD11}" type="datetimeFigureOut">
              <a:rPr lang="en-US" smtClean="0"/>
              <a:t>11/6/2017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37FF0-48AB-4AB6-BB17-EC95F4702C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748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561D8-B2A8-4593-AE98-E17A653DDD11}" type="datetimeFigureOut">
              <a:rPr lang="en-US" smtClean="0"/>
              <a:t>11/6/2017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37FF0-48AB-4AB6-BB17-EC95F4702C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5500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561D8-B2A8-4593-AE98-E17A653DDD11}" type="datetimeFigureOut">
              <a:rPr lang="en-US" smtClean="0"/>
              <a:t>11/6/2017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37FF0-48AB-4AB6-BB17-EC95F4702C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322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561D8-B2A8-4593-AE98-E17A653DDD11}" type="datetimeFigureOut">
              <a:rPr lang="en-US" smtClean="0"/>
              <a:t>11/6/2017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37FF0-48AB-4AB6-BB17-EC95F4702C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8179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561D8-B2A8-4593-AE98-E17A653DDD11}" type="datetimeFigureOut">
              <a:rPr lang="en-US" smtClean="0"/>
              <a:t>11/6/2017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37FF0-48AB-4AB6-BB17-EC95F4702C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592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561D8-B2A8-4593-AE98-E17A653DDD11}" type="datetimeFigureOut">
              <a:rPr lang="en-US" smtClean="0"/>
              <a:t>11/6/2017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37FF0-48AB-4AB6-BB17-EC95F4702C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304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561D8-B2A8-4593-AE98-E17A653DDD11}" type="datetimeFigureOut">
              <a:rPr lang="en-US" smtClean="0"/>
              <a:t>11/6/2017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37FF0-48AB-4AB6-BB17-EC95F4702C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1056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561D8-B2A8-4593-AE98-E17A653DDD11}" type="datetimeFigureOut">
              <a:rPr lang="en-US" smtClean="0"/>
              <a:t>11/6/2017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37FF0-48AB-4AB6-BB17-EC95F4702C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6637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561D8-B2A8-4593-AE98-E17A653DDD11}" type="datetimeFigureOut">
              <a:rPr lang="en-US" smtClean="0"/>
              <a:t>11/6/2017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37FF0-48AB-4AB6-BB17-EC95F4702C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077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561D8-B2A8-4593-AE98-E17A653DDD11}" type="datetimeFigureOut">
              <a:rPr lang="en-US" smtClean="0"/>
              <a:t>11/6/2017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37FF0-48AB-4AB6-BB17-EC95F4702C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5658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0561D8-B2A8-4593-AE98-E17A653DDD11}" type="datetimeFigureOut">
              <a:rPr lang="en-US" smtClean="0"/>
              <a:t>11/6/2017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137FF0-48AB-4AB6-BB17-EC95F4702C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6558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emf"/><Relationship Id="rId5" Type="http://schemas.openxmlformats.org/officeDocument/2006/relationships/image" Target="../media/image19.emf"/><Relationship Id="rId4" Type="http://schemas.openxmlformats.org/officeDocument/2006/relationships/image" Target="../media/image18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7" Type="http://schemas.openxmlformats.org/officeDocument/2006/relationships/image" Target="../media/image40.emf"/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emf"/><Relationship Id="rId5" Type="http://schemas.openxmlformats.org/officeDocument/2006/relationships/image" Target="../media/image38.emf"/><Relationship Id="rId4" Type="http://schemas.openxmlformats.org/officeDocument/2006/relationships/image" Target="../media/image37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emf"/><Relationship Id="rId2" Type="http://schemas.openxmlformats.org/officeDocument/2006/relationships/image" Target="../media/image41.emf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emf"/><Relationship Id="rId2" Type="http://schemas.openxmlformats.org/officeDocument/2006/relationships/image" Target="../media/image43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emf"/><Relationship Id="rId5" Type="http://schemas.openxmlformats.org/officeDocument/2006/relationships/image" Target="../media/image46.emf"/><Relationship Id="rId4" Type="http://schemas.openxmlformats.org/officeDocument/2006/relationships/image" Target="../media/image45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emf"/><Relationship Id="rId2" Type="http://schemas.openxmlformats.org/officeDocument/2006/relationships/image" Target="../media/image48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0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emf"/><Relationship Id="rId2" Type="http://schemas.openxmlformats.org/officeDocument/2006/relationships/image" Target="../media/image51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.emf"/><Relationship Id="rId5" Type="http://schemas.openxmlformats.org/officeDocument/2006/relationships/image" Target="../media/image54.emf"/><Relationship Id="rId4" Type="http://schemas.openxmlformats.org/officeDocument/2006/relationships/image" Target="../media/image53.emf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emf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emf"/><Relationship Id="rId2" Type="http://schemas.openxmlformats.org/officeDocument/2006/relationships/image" Target="../media/image57.e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0.emf"/><Relationship Id="rId4" Type="http://schemas.openxmlformats.org/officeDocument/2006/relationships/image" Target="../media/image59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emf"/><Relationship Id="rId2" Type="http://schemas.openxmlformats.org/officeDocument/2006/relationships/image" Target="../media/image61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3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emf"/><Relationship Id="rId2" Type="http://schemas.openxmlformats.org/officeDocument/2006/relationships/image" Target="../media/image64.emf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emf"/><Relationship Id="rId2" Type="http://schemas.openxmlformats.org/officeDocument/2006/relationships/image" Target="../media/image66.emf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emf"/><Relationship Id="rId2" Type="http://schemas.openxmlformats.org/officeDocument/2006/relationships/image" Target="../media/image68.emf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emf"/><Relationship Id="rId7" Type="http://schemas.openxmlformats.org/officeDocument/2006/relationships/image" Target="../media/image75.emf"/><Relationship Id="rId2" Type="http://schemas.openxmlformats.org/officeDocument/2006/relationships/image" Target="../media/image70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4.emf"/><Relationship Id="rId5" Type="http://schemas.openxmlformats.org/officeDocument/2006/relationships/image" Target="../media/image73.emf"/><Relationship Id="rId4" Type="http://schemas.openxmlformats.org/officeDocument/2006/relationships/image" Target="../media/image72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emf"/><Relationship Id="rId2" Type="http://schemas.openxmlformats.org/officeDocument/2006/relationships/image" Target="../media/image76.emf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emf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emf"/><Relationship Id="rId2" Type="http://schemas.openxmlformats.org/officeDocument/2006/relationships/image" Target="../media/image79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3.emf"/><Relationship Id="rId5" Type="http://schemas.openxmlformats.org/officeDocument/2006/relationships/image" Target="../media/image82.emf"/><Relationship Id="rId4" Type="http://schemas.openxmlformats.org/officeDocument/2006/relationships/image" Target="../media/image81.e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emf"/><Relationship Id="rId2" Type="http://schemas.openxmlformats.org/officeDocument/2006/relationships/image" Target="../media/image84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6.e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emf"/><Relationship Id="rId2" Type="http://schemas.openxmlformats.org/officeDocument/2006/relationships/image" Target="../media/image87.emf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emf"/><Relationship Id="rId2" Type="http://schemas.openxmlformats.org/officeDocument/2006/relationships/image" Target="../media/image89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3.emf"/><Relationship Id="rId5" Type="http://schemas.openxmlformats.org/officeDocument/2006/relationships/image" Target="../media/image92.emf"/><Relationship Id="rId4" Type="http://schemas.openxmlformats.org/officeDocument/2006/relationships/image" Target="../media/image91.e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emf"/><Relationship Id="rId2" Type="http://schemas.openxmlformats.org/officeDocument/2006/relationships/image" Target="../media/image94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6.e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emf"/><Relationship Id="rId2" Type="http://schemas.openxmlformats.org/officeDocument/2006/relationships/image" Target="../media/image97.emf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emf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emf"/><Relationship Id="rId2" Type="http://schemas.openxmlformats.org/officeDocument/2006/relationships/image" Target="../media/image100.e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3.emf"/><Relationship Id="rId4" Type="http://schemas.openxmlformats.org/officeDocument/2006/relationships/image" Target="../media/image102.emf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emf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emf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emf"/><Relationship Id="rId2" Type="http://schemas.openxmlformats.org/officeDocument/2006/relationships/image" Target="../media/image106.emf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emf"/><Relationship Id="rId2" Type="http://schemas.openxmlformats.org/officeDocument/2006/relationships/image" Target="../media/image108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0.emf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emf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emf"/><Relationship Id="rId2" Type="http://schemas.openxmlformats.org/officeDocument/2006/relationships/image" Target="../media/image112.emf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emf"/><Relationship Id="rId2" Type="http://schemas.openxmlformats.org/officeDocument/2006/relationships/image" Target="../media/image114.emf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emf"/><Relationship Id="rId2" Type="http://schemas.openxmlformats.org/officeDocument/2006/relationships/image" Target="../media/image116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8.emf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emf"/><Relationship Id="rId2" Type="http://schemas.openxmlformats.org/officeDocument/2006/relationships/image" Target="../media/image119.emf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emf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emf"/><Relationship Id="rId2" Type="http://schemas.openxmlformats.org/officeDocument/2006/relationships/image" Target="../media/image122.emf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4.emf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emf"/><Relationship Id="rId2" Type="http://schemas.openxmlformats.org/officeDocument/2006/relationships/image" Target="../media/image125.emf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7.emf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8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488788" y="334879"/>
            <a:ext cx="772646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dirty="0">
                <a:latin typeface="HelveticaNeueLTStd-Bd"/>
              </a:rPr>
              <a:t>Acid–Base Equilibrium</a:t>
            </a:r>
            <a:endParaRPr lang="en-US" sz="4000" dirty="0"/>
          </a:p>
        </p:txBody>
      </p:sp>
      <p:sp>
        <p:nvSpPr>
          <p:cNvPr id="5" name="Rectangle 4"/>
          <p:cNvSpPr/>
          <p:nvPr/>
        </p:nvSpPr>
        <p:spPr>
          <a:xfrm>
            <a:off x="419100" y="1200289"/>
            <a:ext cx="86106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>
                <a:srgbClr val="FFC000"/>
              </a:buClr>
              <a:buFont typeface="Arial" pitchFamily="34" charset="0"/>
              <a:buChar char="•"/>
            </a:pPr>
            <a:r>
              <a:rPr lang="en-US" sz="2400" dirty="0" smtClean="0">
                <a:solidFill>
                  <a:schemeClr val="tx1">
                    <a:lumMod val="9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The term acid is “</a:t>
            </a:r>
            <a:r>
              <a:rPr lang="en-US" sz="2400" dirty="0" err="1" smtClean="0">
                <a:latin typeface="Arial" pitchFamily="34" charset="0"/>
                <a:cs typeface="Arial" pitchFamily="34" charset="0"/>
              </a:rPr>
              <a:t>acere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”, in Latin language, meaning sour.</a:t>
            </a:r>
          </a:p>
          <a:p>
            <a:pPr>
              <a:lnSpc>
                <a:spcPct val="150000"/>
              </a:lnSpc>
              <a:buClr>
                <a:srgbClr val="FFC000"/>
              </a:buClr>
              <a:buFont typeface="Arial" pitchFamily="34" charset="0"/>
              <a:buChar char="•"/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 In 17</a:t>
            </a:r>
            <a:r>
              <a:rPr lang="en-US" sz="2400" baseline="30000" dirty="0" smtClean="0">
                <a:latin typeface="Arial" pitchFamily="34" charset="0"/>
                <a:cs typeface="Arial" pitchFamily="34" charset="0"/>
              </a:rPr>
              <a:t>th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century the English chemist Robert Boyle grouped the </a:t>
            </a:r>
          </a:p>
          <a:p>
            <a:pPr>
              <a:lnSpc>
                <a:spcPct val="150000"/>
              </a:lnSpc>
              <a:buClr>
                <a:srgbClr val="FFC000"/>
              </a:buClr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substances as either acids or bases.</a:t>
            </a:r>
          </a:p>
          <a:p>
            <a:pPr>
              <a:lnSpc>
                <a:spcPct val="150000"/>
              </a:lnSpc>
              <a:buClr>
                <a:srgbClr val="FFC000"/>
              </a:buClr>
              <a:buFont typeface="Arial" pitchFamily="34" charset="0"/>
              <a:buChar char="•"/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 Acids and bases are found in many fruits, vegetables and some household products, like vinegar, apple, oranges, lemons, grapes, soaps, etc.</a:t>
            </a:r>
          </a:p>
          <a:p>
            <a:pPr>
              <a:lnSpc>
                <a:spcPct val="150000"/>
              </a:lnSpc>
              <a:buClr>
                <a:srgbClr val="FFC000"/>
              </a:buClr>
              <a:buFont typeface="Arial" pitchFamily="34" charset="0"/>
              <a:buChar char="•"/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 To explain the behavior of acids and bases there are many acid-base theories.   </a:t>
            </a:r>
            <a:endParaRPr lang="en-US" sz="24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6" name="Picture 2" descr="http://www.brooklawn.org/Assets/Jpegs/Fruits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215252" y="1200289"/>
            <a:ext cx="2705409" cy="227951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991409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974" y="310333"/>
            <a:ext cx="6311251" cy="44613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973" y="1083101"/>
            <a:ext cx="6311251" cy="33934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136973" y="1422447"/>
            <a:ext cx="89154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Clr>
                <a:srgbClr val="FFC000"/>
              </a:buClr>
              <a:buFont typeface="Arial" pitchFamily="34" charset="0"/>
              <a:buChar char="•"/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In 1884, Swedish chemist Svante Arrhenius defined acids as</a:t>
            </a:r>
          </a:p>
          <a:p>
            <a:pPr marL="457200" indent="-457200">
              <a:lnSpc>
                <a:spcPct val="150000"/>
              </a:lnSpc>
              <a:buClr>
                <a:srgbClr val="FFC000"/>
              </a:buClr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compounds that produce H</a:t>
            </a:r>
            <a:r>
              <a:rPr lang="en-US" sz="2400" baseline="30000" dirty="0" smtClean="0">
                <a:latin typeface="Arial" pitchFamily="34" charset="0"/>
                <a:cs typeface="Arial" pitchFamily="34" charset="0"/>
              </a:rPr>
              <a:t>+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ions in aqueous solutions, and </a:t>
            </a:r>
          </a:p>
          <a:p>
            <a:pPr marL="457200" indent="-457200">
              <a:lnSpc>
                <a:spcPct val="150000"/>
              </a:lnSpc>
              <a:buClr>
                <a:srgbClr val="FFC000"/>
              </a:buClr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bases compounds that produce OH</a:t>
            </a:r>
            <a:r>
              <a:rPr lang="en-US" sz="2400" baseline="30000" dirty="0" smtClean="0">
                <a:latin typeface="Arial" pitchFamily="34" charset="0"/>
                <a:cs typeface="Arial" pitchFamily="34" charset="0"/>
              </a:rPr>
              <a:t>-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ions in aqueous solutions.</a:t>
            </a:r>
          </a:p>
          <a:p>
            <a:pPr marL="457200" indent="-457200">
              <a:lnSpc>
                <a:spcPct val="150000"/>
              </a:lnSpc>
              <a:buClr>
                <a:srgbClr val="FFC000"/>
              </a:buClr>
              <a:buFont typeface="Arial" pitchFamily="34" charset="0"/>
              <a:buChar char="•"/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This theory was insufficient to explain the acidic or basic </a:t>
            </a:r>
          </a:p>
          <a:p>
            <a:pPr marL="457200" indent="-457200">
              <a:lnSpc>
                <a:spcPct val="150000"/>
              </a:lnSpc>
              <a:buClr>
                <a:srgbClr val="FFC000"/>
              </a:buClr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properties of some substances such as SO</a:t>
            </a:r>
            <a:r>
              <a:rPr lang="en-US" sz="2400" baseline="-25000" dirty="0" smtClean="0">
                <a:latin typeface="Arial" pitchFamily="34" charset="0"/>
                <a:cs typeface="Arial" pitchFamily="34" charset="0"/>
              </a:rPr>
              <a:t>3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or NH</a:t>
            </a:r>
            <a:r>
              <a:rPr lang="en-US" sz="2400" baseline="-25000" dirty="0" smtClean="0">
                <a:latin typeface="Arial" pitchFamily="34" charset="0"/>
                <a:cs typeface="Arial" pitchFamily="34" charset="0"/>
              </a:rPr>
              <a:t>3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4248" y="4654101"/>
            <a:ext cx="4326852" cy="74617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34248" y="5601356"/>
            <a:ext cx="4443825" cy="639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833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549" y="74945"/>
            <a:ext cx="9096238" cy="57251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622" y="1600987"/>
            <a:ext cx="4811075" cy="104197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549" y="3302461"/>
            <a:ext cx="8142504" cy="311506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1222" y="2624609"/>
            <a:ext cx="7631538" cy="48122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11822" y="664485"/>
            <a:ext cx="963707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0" i="0" u="none" strike="noStrike" baseline="0" dirty="0" err="1" smtClean="0">
                <a:latin typeface="HelveticaNeueLTStd-BdCn"/>
              </a:rPr>
              <a:t>Brønsted</a:t>
            </a:r>
            <a:r>
              <a:rPr lang="en-US" sz="2000" b="0" i="0" u="none" strike="noStrike" baseline="0" dirty="0" smtClean="0">
                <a:latin typeface="HelveticaNeueLTStd-BdCn"/>
              </a:rPr>
              <a:t>–Lowry theory </a:t>
            </a:r>
            <a:r>
              <a:rPr lang="en-US" sz="2000" b="0" i="0" u="none" strike="noStrike" baseline="0" dirty="0" smtClean="0">
                <a:latin typeface="HelveticaNeueLTStd-Cn"/>
              </a:rPr>
              <a:t>a theory stating</a:t>
            </a:r>
            <a:r>
              <a:rPr lang="en-US" sz="2000" b="0" i="0" u="none" strike="noStrike" dirty="0" smtClean="0">
                <a:latin typeface="HelveticaNeueLTStd-Cn"/>
              </a:rPr>
              <a:t> </a:t>
            </a:r>
            <a:r>
              <a:rPr lang="en-US" sz="2000" b="0" i="0" u="none" strike="noStrike" baseline="0" dirty="0" smtClean="0">
                <a:latin typeface="HelveticaNeueLTStd-Cn"/>
              </a:rPr>
              <a:t>that an acid is a hydrogen ion (proton)</a:t>
            </a:r>
          </a:p>
          <a:p>
            <a:r>
              <a:rPr lang="en-US" sz="2000" b="0" i="0" u="none" strike="noStrike" baseline="0" dirty="0" smtClean="0">
                <a:latin typeface="HelveticaNeueLTStd-Cn"/>
              </a:rPr>
              <a:t>donor and a base is a hydrogen ion</a:t>
            </a:r>
            <a:r>
              <a:rPr lang="en-US" sz="2000" b="0" i="0" u="none" strike="noStrike" dirty="0" smtClean="0">
                <a:latin typeface="HelveticaNeueLTStd-Cn"/>
              </a:rPr>
              <a:t> </a:t>
            </a:r>
            <a:r>
              <a:rPr lang="en-US" sz="2000" b="0" i="0" u="none" strike="noStrike" baseline="0" dirty="0" smtClean="0">
                <a:latin typeface="HelveticaNeueLTStd-Cn"/>
              </a:rPr>
              <a:t>(proton) acceptor</a:t>
            </a:r>
            <a:endParaRPr lang="en-US" sz="2000" dirty="0"/>
          </a:p>
        </p:txBody>
      </p:sp>
      <p:sp>
        <p:nvSpPr>
          <p:cNvPr id="8" name="Rectangle 7"/>
          <p:cNvSpPr/>
          <p:nvPr/>
        </p:nvSpPr>
        <p:spPr>
          <a:xfrm>
            <a:off x="8522760" y="3546473"/>
            <a:ext cx="343767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i="0" u="none" strike="noStrike" baseline="0" dirty="0" smtClean="0">
                <a:latin typeface="HelveticaNeueLTStd-BdCn"/>
              </a:rPr>
              <a:t>hydronium ion </a:t>
            </a:r>
            <a:r>
              <a:rPr lang="en-US" sz="1600" b="0" i="0" u="none" strike="noStrike" baseline="0" dirty="0" smtClean="0">
                <a:latin typeface="HelveticaNeueLTStd-Cn"/>
              </a:rPr>
              <a:t>a water molecule that has</a:t>
            </a:r>
            <a:r>
              <a:rPr lang="en-US" sz="1600" b="0" i="0" u="none" strike="noStrike" dirty="0" smtClean="0">
                <a:latin typeface="HelveticaNeueLTStd-Cn"/>
              </a:rPr>
              <a:t> </a:t>
            </a:r>
            <a:r>
              <a:rPr lang="en-US" sz="1600" b="0" i="0" u="none" strike="noStrike" baseline="0" dirty="0" smtClean="0">
                <a:latin typeface="HelveticaNeueLTStd-Cn"/>
              </a:rPr>
              <a:t>accepted a hydrogen ion, H</a:t>
            </a:r>
            <a:r>
              <a:rPr lang="en-US" sz="1600" b="0" i="0" u="none" strike="noStrike" baseline="-25000" dirty="0" smtClean="0">
                <a:latin typeface="HelveticaNeueLTStd-Cn"/>
              </a:rPr>
              <a:t>3</a:t>
            </a:r>
            <a:r>
              <a:rPr lang="en-US" sz="1600" b="0" i="0" u="none" strike="noStrike" baseline="0" dirty="0" smtClean="0">
                <a:latin typeface="HelveticaNeueLTStd-Cn"/>
              </a:rPr>
              <a:t>O</a:t>
            </a:r>
            <a:r>
              <a:rPr lang="en-US" sz="1600" b="0" i="0" u="none" strike="noStrike" baseline="30000" dirty="0" smtClean="0">
                <a:latin typeface="WWDOC01"/>
              </a:rPr>
              <a:t>1+</a:t>
            </a:r>
            <a:endParaRPr lang="en-US" sz="1600" baseline="30000" dirty="0"/>
          </a:p>
        </p:txBody>
      </p:sp>
    </p:spTree>
    <p:extLst>
      <p:ext uri="{BB962C8B-B14F-4D97-AF65-F5344CB8AC3E}">
        <p14:creationId xmlns:p14="http://schemas.microsoft.com/office/powerpoint/2010/main" val="22914353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299" y="1296758"/>
            <a:ext cx="8403301" cy="461132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350" y="376778"/>
            <a:ext cx="9759510" cy="677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3591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92716" y="374134"/>
            <a:ext cx="683411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b="1" i="0" u="none" strike="noStrike" baseline="0" dirty="0" smtClean="0">
                <a:latin typeface="HelveticaNeueLTStd-Bd"/>
              </a:rPr>
              <a:t>Conjugate Acid–Base Pairs</a:t>
            </a:r>
            <a:endParaRPr lang="en-US" sz="4000" b="1" dirty="0"/>
          </a:p>
        </p:txBody>
      </p:sp>
      <p:sp>
        <p:nvSpPr>
          <p:cNvPr id="3" name="Rectangle 2"/>
          <p:cNvSpPr/>
          <p:nvPr/>
        </p:nvSpPr>
        <p:spPr>
          <a:xfrm>
            <a:off x="771172" y="1071840"/>
            <a:ext cx="10950928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i="0" u="none" strike="noStrike" baseline="0" dirty="0" smtClean="0">
                <a:latin typeface="HelveticaNeueLTStd-BdCn"/>
              </a:rPr>
              <a:t>conjugate acid </a:t>
            </a:r>
            <a:r>
              <a:rPr lang="en-US" sz="2000" b="0" i="0" u="none" strike="noStrike" baseline="0" dirty="0" smtClean="0">
                <a:latin typeface="HelveticaNeueLTStd-Cn"/>
              </a:rPr>
              <a:t>the substance that forms</a:t>
            </a:r>
            <a:r>
              <a:rPr lang="en-US" sz="2000" b="0" i="0" u="none" strike="noStrike" dirty="0" smtClean="0">
                <a:latin typeface="HelveticaNeueLTStd-Cn"/>
              </a:rPr>
              <a:t> </a:t>
            </a:r>
            <a:r>
              <a:rPr lang="en-US" sz="2000" b="0" i="0" u="none" strike="noStrike" baseline="0" dirty="0" smtClean="0">
                <a:latin typeface="HelveticaNeueLTStd-Cn"/>
              </a:rPr>
              <a:t>when a base, according to the </a:t>
            </a:r>
            <a:r>
              <a:rPr lang="en-US" sz="2000" b="0" i="0" u="none" strike="noStrike" baseline="0" dirty="0" err="1" smtClean="0">
                <a:latin typeface="HelveticaNeueLTStd-Cn"/>
              </a:rPr>
              <a:t>Brønsted</a:t>
            </a:r>
            <a:r>
              <a:rPr lang="en-US" sz="2000" b="0" i="0" u="none" strike="noStrike" baseline="0" dirty="0" smtClean="0">
                <a:latin typeface="HelveticaNeueLTStd-Cn"/>
              </a:rPr>
              <a:t>–</a:t>
            </a:r>
            <a:r>
              <a:rPr lang="en-US" sz="2000" b="0" i="0" u="none" strike="noStrike" dirty="0" smtClean="0">
                <a:latin typeface="HelveticaNeueLTStd-Cn"/>
              </a:rPr>
              <a:t> </a:t>
            </a:r>
            <a:r>
              <a:rPr lang="en-US" sz="2000" b="0" i="0" u="none" strike="noStrike" baseline="0" dirty="0" smtClean="0">
                <a:latin typeface="HelveticaNeueLTStd-Cn"/>
              </a:rPr>
              <a:t>Lowry theory, accepts a hydrogen ion</a:t>
            </a:r>
            <a:r>
              <a:rPr lang="en-US" sz="2000" b="0" i="0" u="none" strike="noStrike" dirty="0" smtClean="0">
                <a:latin typeface="HelveticaNeueLTStd-Cn"/>
              </a:rPr>
              <a:t> </a:t>
            </a:r>
            <a:r>
              <a:rPr lang="en-US" sz="2000" b="0" i="0" u="none" strike="noStrike" baseline="0" dirty="0" smtClean="0">
                <a:latin typeface="HelveticaNeueLTStd-Cn"/>
              </a:rPr>
              <a:t>(proton)</a:t>
            </a:r>
            <a:endParaRPr lang="en-US" sz="2000" b="1" i="0" u="none" strike="noStrike" baseline="0" dirty="0" smtClean="0">
              <a:latin typeface="HelveticaNeueLTStd-BdCn"/>
            </a:endParaRPr>
          </a:p>
          <a:p>
            <a:r>
              <a:rPr lang="en-US" sz="2000" b="1" i="0" u="none" strike="noStrike" baseline="0" dirty="0" smtClean="0">
                <a:latin typeface="HelveticaNeueLTStd-BdCn"/>
              </a:rPr>
              <a:t>conjugate base </a:t>
            </a:r>
            <a:r>
              <a:rPr lang="en-US" sz="2000" b="0" i="0" u="none" strike="noStrike" baseline="0" dirty="0" smtClean="0">
                <a:latin typeface="HelveticaNeueLTStd-Cn"/>
              </a:rPr>
              <a:t>the substance that</a:t>
            </a:r>
            <a:r>
              <a:rPr lang="en-US" sz="2000" b="0" i="0" u="none" strike="noStrike" dirty="0" smtClean="0">
                <a:latin typeface="HelveticaNeueLTStd-Cn"/>
              </a:rPr>
              <a:t> </a:t>
            </a:r>
            <a:r>
              <a:rPr lang="en-US" sz="2000" b="0" i="0" u="none" strike="noStrike" baseline="0" dirty="0" smtClean="0">
                <a:latin typeface="HelveticaNeueLTStd-Cn"/>
              </a:rPr>
              <a:t>forms when an acid loses a hydrogen</a:t>
            </a:r>
            <a:r>
              <a:rPr lang="en-US" sz="2000" b="0" i="0" u="none" strike="noStrike" dirty="0" smtClean="0">
                <a:latin typeface="HelveticaNeueLTStd-Cn"/>
              </a:rPr>
              <a:t> </a:t>
            </a:r>
            <a:r>
              <a:rPr lang="en-US" sz="2000" b="0" i="0" u="none" strike="noStrike" baseline="0" dirty="0" smtClean="0">
                <a:latin typeface="HelveticaNeueLTStd-Cn"/>
              </a:rPr>
              <a:t>ion (proton)</a:t>
            </a:r>
          </a:p>
          <a:p>
            <a:r>
              <a:rPr lang="en-US" sz="2000" b="1" i="0" u="none" strike="noStrike" baseline="0" dirty="0" smtClean="0">
                <a:latin typeface="HelveticaNeueLTStd-BdCn"/>
              </a:rPr>
              <a:t>conjugate acid–base pair </a:t>
            </a:r>
            <a:r>
              <a:rPr lang="en-US" sz="2000" b="0" i="0" u="none" strike="noStrike" baseline="0" dirty="0" smtClean="0">
                <a:latin typeface="HelveticaNeueLTStd-Cn"/>
              </a:rPr>
              <a:t>two</a:t>
            </a:r>
            <a:r>
              <a:rPr lang="en-US" sz="2000" b="0" i="0" u="none" strike="noStrike" dirty="0" smtClean="0">
                <a:latin typeface="HelveticaNeueLTStd-Cn"/>
              </a:rPr>
              <a:t> </a:t>
            </a:r>
            <a:r>
              <a:rPr lang="en-US" sz="2000" b="0" i="0" u="none" strike="noStrike" baseline="0" dirty="0" smtClean="0">
                <a:latin typeface="HelveticaNeueLTStd-Cn"/>
              </a:rPr>
              <a:t>substances related to each other by</a:t>
            </a:r>
            <a:r>
              <a:rPr lang="en-US" sz="2000" b="0" i="0" u="none" strike="noStrike" dirty="0" smtClean="0">
                <a:latin typeface="HelveticaNeueLTStd-Cn"/>
              </a:rPr>
              <a:t> </a:t>
            </a:r>
            <a:r>
              <a:rPr lang="en-US" sz="2000" b="0" i="0" u="none" strike="noStrike" baseline="0" dirty="0" smtClean="0">
                <a:latin typeface="HelveticaNeueLTStd-Cn"/>
              </a:rPr>
              <a:t>the donating and accepting of a single</a:t>
            </a:r>
            <a:r>
              <a:rPr lang="en-US" sz="2000" b="0" i="0" u="none" strike="noStrike" dirty="0" smtClean="0">
                <a:latin typeface="HelveticaNeueLTStd-Cn"/>
              </a:rPr>
              <a:t> </a:t>
            </a:r>
            <a:r>
              <a:rPr lang="en-US" sz="2000" b="0" i="0" u="none" strike="noStrike" baseline="0" dirty="0" smtClean="0">
                <a:latin typeface="HelveticaNeueLTStd-Cn"/>
              </a:rPr>
              <a:t>hydrogen ion</a:t>
            </a:r>
            <a:endParaRPr lang="en-US" sz="2000" dirty="0" smtClean="0"/>
          </a:p>
          <a:p>
            <a:endParaRPr lang="en-US" sz="2000" dirty="0" smtClean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172" y="2667001"/>
            <a:ext cx="10544528" cy="391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8092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60539" y="348734"/>
            <a:ext cx="886136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i="0" u="none" strike="noStrike" baseline="0" dirty="0" smtClean="0">
                <a:latin typeface="HelveticaNeueLTStd-Bd"/>
              </a:rPr>
              <a:t>Amphiprotic (Amphoteric) Substances</a:t>
            </a:r>
            <a:endParaRPr lang="en-US" sz="3600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0539" y="2361982"/>
            <a:ext cx="9372600" cy="292401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358900" y="1210965"/>
            <a:ext cx="95885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0" i="0" u="none" strike="noStrike" baseline="0" dirty="0" smtClean="0">
                <a:latin typeface="HelveticaNeueLTStd-BdCn"/>
              </a:rPr>
              <a:t>amphiprotic (amphoteric) </a:t>
            </a:r>
            <a:r>
              <a:rPr lang="en-US" sz="2000" b="0" i="0" u="none" strike="noStrike" baseline="0" dirty="0" smtClean="0">
                <a:latin typeface="HelveticaNeueLTStd-Cn"/>
              </a:rPr>
              <a:t>able to donate</a:t>
            </a:r>
            <a:r>
              <a:rPr lang="en-US" sz="2000" b="0" i="0" u="none" strike="noStrike" dirty="0" smtClean="0">
                <a:latin typeface="HelveticaNeueLTStd-Cn"/>
              </a:rPr>
              <a:t> </a:t>
            </a:r>
            <a:r>
              <a:rPr lang="en-US" sz="2000" b="0" i="0" u="none" strike="noStrike" baseline="0" dirty="0" smtClean="0">
                <a:latin typeface="HelveticaNeueLTStd-Cn"/>
              </a:rPr>
              <a:t>or accept a hydrogen ion (proton) and thus</a:t>
            </a:r>
          </a:p>
          <a:p>
            <a:r>
              <a:rPr lang="en-US" sz="2000" b="0" i="0" u="none" strike="noStrike" baseline="0" dirty="0" smtClean="0">
                <a:latin typeface="HelveticaNeueLTStd-Cn"/>
              </a:rPr>
              <a:t>act as both a </a:t>
            </a:r>
            <a:r>
              <a:rPr lang="en-US" sz="2000" b="0" i="0" u="none" strike="noStrike" baseline="0" dirty="0" err="1" smtClean="0">
                <a:latin typeface="HelveticaNeueLTStd-Cn"/>
              </a:rPr>
              <a:t>Brønsted</a:t>
            </a:r>
            <a:r>
              <a:rPr lang="en-US" sz="2000" b="0" i="0" u="none" strike="noStrike" baseline="0" dirty="0" smtClean="0">
                <a:latin typeface="HelveticaNeueLTStd-Cn"/>
              </a:rPr>
              <a:t>–Lowry acid and a</a:t>
            </a:r>
            <a:r>
              <a:rPr lang="en-US" sz="2000" b="0" i="0" u="none" strike="noStrike" dirty="0" smtClean="0">
                <a:latin typeface="HelveticaNeueLTStd-Cn"/>
              </a:rPr>
              <a:t> </a:t>
            </a:r>
            <a:r>
              <a:rPr lang="en-US" sz="2000" b="0" i="0" u="none" strike="noStrike" baseline="0" dirty="0" err="1" smtClean="0">
                <a:latin typeface="HelveticaNeueLTStd-Cn"/>
              </a:rPr>
              <a:t>Brønsted</a:t>
            </a:r>
            <a:r>
              <a:rPr lang="en-US" sz="2000" b="0" i="0" u="none" strike="noStrike" baseline="0" dirty="0" smtClean="0">
                <a:latin typeface="HelveticaNeueLTStd-Cn"/>
              </a:rPr>
              <a:t>–Lowry base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5816867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674" y="255706"/>
            <a:ext cx="11104026" cy="203249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674" y="2288201"/>
            <a:ext cx="11104026" cy="3909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1747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374" y="279987"/>
            <a:ext cx="8078125" cy="78533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469" y="1852170"/>
            <a:ext cx="7949933" cy="802913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649" y="2655083"/>
            <a:ext cx="4248080" cy="11337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7649" y="3971698"/>
            <a:ext cx="6736815" cy="79733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7649" y="5016919"/>
            <a:ext cx="11413016" cy="122302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75374" y="1052994"/>
            <a:ext cx="1005932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i="0" u="none" strike="noStrike" baseline="0" dirty="0" smtClean="0">
                <a:latin typeface="HelveticaNeueLTStd-BdCn"/>
              </a:rPr>
              <a:t>acid ionization constant (</a:t>
            </a:r>
            <a:r>
              <a:rPr lang="en-US" sz="2000" b="1" i="1" u="none" strike="noStrike" baseline="0" dirty="0" err="1" smtClean="0">
                <a:latin typeface="HelveticaNeueLTStd-BdCnO"/>
              </a:rPr>
              <a:t>K</a:t>
            </a:r>
            <a:r>
              <a:rPr lang="en-US" sz="900" b="1" i="0" u="none" strike="noStrike" baseline="0" dirty="0" err="1" smtClean="0">
                <a:latin typeface="HelveticaNeueLTStd-BdCn"/>
              </a:rPr>
              <a:t>a</a:t>
            </a:r>
            <a:r>
              <a:rPr lang="en-US" sz="2000" b="1" i="0" u="none" strike="noStrike" baseline="0" dirty="0" smtClean="0">
                <a:latin typeface="HelveticaNeueLTStd-BdCn"/>
              </a:rPr>
              <a:t>) </a:t>
            </a:r>
            <a:r>
              <a:rPr lang="en-US" sz="2000" b="0" i="0" u="none" strike="noStrike" baseline="0" dirty="0" smtClean="0">
                <a:latin typeface="HelveticaNeueLTStd-Cn"/>
              </a:rPr>
              <a:t>the equilibrium</a:t>
            </a:r>
            <a:r>
              <a:rPr lang="en-US" sz="2000" b="0" i="0" u="none" strike="noStrike" dirty="0" smtClean="0">
                <a:latin typeface="HelveticaNeueLTStd-Cn"/>
              </a:rPr>
              <a:t> </a:t>
            </a:r>
            <a:r>
              <a:rPr lang="en-US" sz="2000" b="0" i="0" u="none" strike="noStrike" baseline="0" dirty="0" smtClean="0">
                <a:latin typeface="HelveticaNeueLTStd-Cn"/>
              </a:rPr>
              <a:t>constant for the ionization of an acid; also</a:t>
            </a:r>
          </a:p>
          <a:p>
            <a:r>
              <a:rPr lang="en-US" sz="2000" b="0" i="0" u="none" strike="noStrike" baseline="0" dirty="0" smtClean="0">
                <a:latin typeface="HelveticaNeueLTStd-Cn"/>
              </a:rPr>
              <a:t>called the acid dissociation constant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26762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578" y="321775"/>
            <a:ext cx="9274522" cy="196050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578" y="2282279"/>
            <a:ext cx="8944322" cy="4320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4227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124" y="267487"/>
            <a:ext cx="9710176" cy="632051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18124" y="1124635"/>
            <a:ext cx="9214876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i="0" u="none" strike="noStrike" baseline="0" dirty="0" smtClean="0">
                <a:latin typeface="HelveticaNeueLTStd-BdCn"/>
              </a:rPr>
              <a:t>strong acid </a:t>
            </a:r>
            <a:r>
              <a:rPr lang="en-US" b="0" i="0" u="none" strike="noStrike" baseline="0" dirty="0" smtClean="0">
                <a:latin typeface="HelveticaNeueLTStd-Cn"/>
              </a:rPr>
              <a:t>an acid that ionizes almost</a:t>
            </a:r>
            <a:r>
              <a:rPr lang="en-US" b="0" i="0" u="none" strike="noStrike" dirty="0" smtClean="0">
                <a:latin typeface="HelveticaNeueLTStd-Cn"/>
              </a:rPr>
              <a:t> </a:t>
            </a:r>
            <a:r>
              <a:rPr lang="en-US" b="0" i="0" u="none" strike="noStrike" baseline="0" dirty="0" smtClean="0">
                <a:latin typeface="HelveticaNeueLTStd-Cn"/>
              </a:rPr>
              <a:t>100 % in water, producing hydrogen ions</a:t>
            </a:r>
          </a:p>
          <a:p>
            <a:r>
              <a:rPr lang="en-US" sz="2400" b="1" dirty="0"/>
              <a:t>weak acid </a:t>
            </a:r>
            <a:r>
              <a:rPr lang="en-US" sz="2200" dirty="0"/>
              <a:t>an acid that only partly </a:t>
            </a:r>
            <a:r>
              <a:rPr lang="en-US" sz="2200" dirty="0" smtClean="0"/>
              <a:t>ionizes in </a:t>
            </a:r>
            <a:r>
              <a:rPr lang="en-US" sz="2200" dirty="0"/>
              <a:t>water, producing hydrogen ions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1" y="1894076"/>
            <a:ext cx="6144150" cy="472262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7550" y="2322220"/>
            <a:ext cx="5346068" cy="2262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31868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849" y="236947"/>
            <a:ext cx="7213787" cy="63935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650" y="3623356"/>
            <a:ext cx="4188050" cy="271820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94849" y="876300"/>
            <a:ext cx="866665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i="0" u="none" strike="noStrike" baseline="0" dirty="0" smtClean="0">
                <a:latin typeface="HelveticaNeueLTStd-BdCn"/>
              </a:rPr>
              <a:t>oxyacid </a:t>
            </a:r>
            <a:r>
              <a:rPr lang="en-US" b="1" i="0" u="none" strike="noStrike" baseline="0" dirty="0" smtClean="0">
                <a:latin typeface="HelveticaNeueLTStd-Cn"/>
              </a:rPr>
              <a:t>an acid </a:t>
            </a:r>
            <a:r>
              <a:rPr lang="en-US" b="0" i="0" u="none" strike="noStrike" baseline="0" dirty="0" smtClean="0">
                <a:latin typeface="HelveticaNeueLTStd-Cn"/>
              </a:rPr>
              <a:t>in which the acidic</a:t>
            </a:r>
            <a:r>
              <a:rPr lang="en-US" b="0" i="0" u="none" strike="noStrike" dirty="0" smtClean="0">
                <a:latin typeface="HelveticaNeueLTStd-Cn"/>
              </a:rPr>
              <a:t> </a:t>
            </a:r>
            <a:r>
              <a:rPr lang="en-US" b="0" i="0" u="none" strike="noStrike" baseline="0" dirty="0" smtClean="0">
                <a:latin typeface="HelveticaNeueLTStd-Cn"/>
              </a:rPr>
              <a:t>hydrogen atom is attached to an oxygen atom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901700" y="2762831"/>
            <a:ext cx="94615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i="0" u="none" strike="noStrike" baseline="0" dirty="0" smtClean="0">
                <a:latin typeface="HelveticaNeueLTStd-BdCn"/>
              </a:rPr>
              <a:t>organic acid </a:t>
            </a:r>
            <a:r>
              <a:rPr lang="en-US" b="0" i="0" u="none" strike="noStrike" baseline="0" dirty="0" smtClean="0">
                <a:latin typeface="HelveticaNeueLTStd-Cn"/>
              </a:rPr>
              <a:t>an acid (except carbonic acid,</a:t>
            </a:r>
            <a:r>
              <a:rPr lang="en-US" b="0" i="0" u="none" strike="noStrike" dirty="0" smtClean="0">
                <a:latin typeface="HelveticaNeueLTStd-Cn"/>
              </a:rPr>
              <a:t> </a:t>
            </a:r>
            <a:r>
              <a:rPr lang="en-US" b="0" i="0" u="none" strike="noStrike" baseline="0" dirty="0" smtClean="0">
                <a:latin typeface="HelveticaNeueLTStd-Cn"/>
              </a:rPr>
              <a:t>H</a:t>
            </a:r>
            <a:r>
              <a:rPr lang="en-US" sz="800" b="0" i="0" u="none" strike="noStrike" baseline="0" dirty="0" smtClean="0">
                <a:latin typeface="HelveticaNeueLTStd-Cn"/>
              </a:rPr>
              <a:t>2</a:t>
            </a:r>
            <a:r>
              <a:rPr lang="en-US" b="0" i="0" u="none" strike="noStrike" baseline="0" dirty="0" smtClean="0">
                <a:latin typeface="HelveticaNeueLTStd-Cn"/>
              </a:rPr>
              <a:t>CO</a:t>
            </a:r>
            <a:r>
              <a:rPr lang="en-US" sz="800" b="0" i="0" u="none" strike="noStrike" baseline="0" dirty="0" smtClean="0">
                <a:latin typeface="HelveticaNeueLTStd-Cn"/>
              </a:rPr>
              <a:t>3</a:t>
            </a:r>
            <a:r>
              <a:rPr lang="en-US" b="0" i="0" u="none" strike="noStrike" baseline="0" dirty="0" smtClean="0">
                <a:latin typeface="HelveticaNeueLTStd-Cn"/>
              </a:rPr>
              <a:t>(</a:t>
            </a:r>
            <a:r>
              <a:rPr lang="en-US" b="0" i="0" u="none" strike="noStrike" baseline="0" dirty="0" err="1" smtClean="0">
                <a:latin typeface="HelveticaNeueLTStd-Cn"/>
              </a:rPr>
              <a:t>aq</a:t>
            </a:r>
            <a:r>
              <a:rPr lang="en-US" b="0" i="0" u="none" strike="noStrike" baseline="0" dirty="0" smtClean="0">
                <a:latin typeface="HelveticaNeueLTStd-Cn"/>
              </a:rPr>
              <a:t>)) containing carbon, oxygen, and</a:t>
            </a:r>
          </a:p>
          <a:p>
            <a:r>
              <a:rPr lang="en-US" b="0" i="0" u="none" strike="noStrike" baseline="0" dirty="0" smtClean="0">
                <a:latin typeface="HelveticaNeueLTStd-Cn"/>
              </a:rPr>
              <a:t>hydrogen atoms; also called carboxylic acid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901700" y="1460207"/>
            <a:ext cx="96774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0" i="0" u="none" strike="noStrike" baseline="0" dirty="0" smtClean="0">
                <a:latin typeface="MinionPro-Regular"/>
              </a:rPr>
              <a:t>Sulfuric acid is a typical example of a strong oxyacid.</a:t>
            </a:r>
          </a:p>
          <a:p>
            <a:r>
              <a:rPr lang="en-US" b="0" i="0" u="none" strike="noStrike" baseline="0" dirty="0" smtClean="0">
                <a:latin typeface="MinionPro-Regular"/>
              </a:rPr>
              <a:t>Many common weak acids, such as phosphoric acid, H</a:t>
            </a:r>
            <a:r>
              <a:rPr lang="en-US" sz="800" b="0" i="0" u="none" strike="noStrike" baseline="0" dirty="0" smtClean="0">
                <a:latin typeface="MinionPro-Regular"/>
              </a:rPr>
              <a:t>3</a:t>
            </a:r>
            <a:r>
              <a:rPr lang="en-US" b="0" i="0" u="none" strike="noStrike" baseline="0" dirty="0" smtClean="0">
                <a:latin typeface="MinionPro-Regular"/>
              </a:rPr>
              <a:t>PO</a:t>
            </a:r>
            <a:r>
              <a:rPr lang="en-US" sz="800" b="0" i="0" u="none" strike="noStrike" baseline="0" dirty="0" smtClean="0">
                <a:latin typeface="MinionPro-Regular"/>
              </a:rPr>
              <a:t>4</a:t>
            </a:r>
            <a:r>
              <a:rPr lang="en-US" b="0" i="0" u="none" strike="noStrike" baseline="0" dirty="0" smtClean="0">
                <a:latin typeface="MinionPro-Regular"/>
              </a:rPr>
              <a:t>(</a:t>
            </a:r>
            <a:r>
              <a:rPr lang="en-US" b="0" i="0" u="none" strike="noStrike" baseline="0" dirty="0" err="1" smtClean="0">
                <a:latin typeface="MinionPro-Regular"/>
              </a:rPr>
              <a:t>aq</a:t>
            </a:r>
            <a:r>
              <a:rPr lang="en-US" b="0" i="0" u="none" strike="noStrike" baseline="0" dirty="0" smtClean="0">
                <a:latin typeface="MinionPro-Regular"/>
              </a:rPr>
              <a:t>); nitrous acid,</a:t>
            </a:r>
            <a:r>
              <a:rPr lang="en-US" b="0" i="0" u="none" strike="noStrike" dirty="0" smtClean="0">
                <a:latin typeface="MinionPro-Regular"/>
              </a:rPr>
              <a:t> </a:t>
            </a:r>
            <a:r>
              <a:rPr lang="en-US" b="0" i="0" u="none" strike="noStrike" baseline="0" dirty="0" smtClean="0">
                <a:latin typeface="MinionPro-Regular"/>
              </a:rPr>
              <a:t>HNO</a:t>
            </a:r>
            <a:r>
              <a:rPr lang="en-US" sz="800" b="0" i="0" u="none" strike="noStrike" baseline="0" dirty="0" smtClean="0">
                <a:latin typeface="MinionPro-Regular"/>
              </a:rPr>
              <a:t>2</a:t>
            </a:r>
            <a:r>
              <a:rPr lang="en-US" b="0" i="0" u="none" strike="noStrike" baseline="0" dirty="0" smtClean="0">
                <a:latin typeface="MinionPro-Regular"/>
              </a:rPr>
              <a:t>(</a:t>
            </a:r>
            <a:r>
              <a:rPr lang="en-US" b="0" i="0" u="none" strike="noStrike" baseline="0" dirty="0" err="1" smtClean="0">
                <a:latin typeface="MinionPro-Regular"/>
              </a:rPr>
              <a:t>aq</a:t>
            </a:r>
            <a:r>
              <a:rPr lang="en-US" b="0" i="0" u="none" strike="noStrike" baseline="0" dirty="0" smtClean="0">
                <a:latin typeface="MinionPro-Regular"/>
              </a:rPr>
              <a:t>); and </a:t>
            </a:r>
            <a:r>
              <a:rPr lang="en-US" b="0" i="0" u="none" strike="noStrike" baseline="0" dirty="0" err="1" smtClean="0">
                <a:latin typeface="MinionPro-Regular"/>
              </a:rPr>
              <a:t>hypochlorous</a:t>
            </a:r>
            <a:r>
              <a:rPr lang="en-US" b="0" i="0" u="none" strike="noStrike" baseline="0" dirty="0" smtClean="0">
                <a:latin typeface="MinionPro-Regular"/>
              </a:rPr>
              <a:t> acid, </a:t>
            </a:r>
            <a:r>
              <a:rPr lang="en-US" b="0" i="0" u="none" strike="noStrike" baseline="0" dirty="0" err="1" smtClean="0">
                <a:latin typeface="MinionPro-Regular"/>
              </a:rPr>
              <a:t>HClO</a:t>
            </a:r>
            <a:r>
              <a:rPr lang="en-US" b="0" i="0" u="none" strike="noStrike" baseline="0" dirty="0" smtClean="0">
                <a:latin typeface="MinionPro-Regular"/>
              </a:rPr>
              <a:t>(</a:t>
            </a:r>
            <a:r>
              <a:rPr lang="en-US" b="0" i="0" u="none" strike="noStrike" baseline="0" dirty="0" err="1" smtClean="0">
                <a:latin typeface="MinionPro-Regular"/>
              </a:rPr>
              <a:t>aq</a:t>
            </a:r>
            <a:r>
              <a:rPr lang="en-US" b="0" i="0" u="none" strike="noStrike" baseline="0" dirty="0" smtClean="0">
                <a:latin typeface="MinionPro-Regular"/>
              </a:rPr>
              <a:t>), are also </a:t>
            </a:r>
            <a:r>
              <a:rPr lang="en-US" b="0" i="0" u="none" strike="noStrike" baseline="0" dirty="0" err="1" smtClean="0">
                <a:latin typeface="MinionPro-Regular"/>
              </a:rPr>
              <a:t>oxyacids</a:t>
            </a:r>
            <a:r>
              <a:rPr lang="en-US" b="0" i="0" u="none" strike="noStrike" baseline="0" dirty="0" smtClean="0">
                <a:latin typeface="MinionPro-Regular"/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53819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76960" y="310634"/>
            <a:ext cx="572544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i="0" u="none" strike="noStrike" baseline="0" dirty="0" smtClean="0">
                <a:latin typeface="HelveticaNeueLTStd-Bd"/>
              </a:rPr>
              <a:t>Strong Bases and Weak Bases</a:t>
            </a:r>
            <a:endParaRPr lang="en-US" sz="2800" b="1" dirty="0"/>
          </a:p>
        </p:txBody>
      </p:sp>
      <p:sp>
        <p:nvSpPr>
          <p:cNvPr id="3" name="Rectangle 2"/>
          <p:cNvSpPr/>
          <p:nvPr/>
        </p:nvSpPr>
        <p:spPr>
          <a:xfrm>
            <a:off x="776960" y="977264"/>
            <a:ext cx="9891040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i="0" u="none" strike="noStrike" baseline="0" dirty="0" smtClean="0">
                <a:latin typeface="HelveticaNeueLTStd-BdCn"/>
              </a:rPr>
              <a:t>strong base </a:t>
            </a:r>
            <a:r>
              <a:rPr lang="en-US" sz="2000" b="0" i="0" u="none" strike="noStrike" baseline="0" dirty="0" smtClean="0">
                <a:latin typeface="HelveticaNeueLTStd-Cn"/>
              </a:rPr>
              <a:t>a base that dissociates</a:t>
            </a:r>
            <a:r>
              <a:rPr lang="en-US" sz="2000" b="0" i="0" u="none" strike="noStrike" dirty="0" smtClean="0">
                <a:latin typeface="HelveticaNeueLTStd-Cn"/>
              </a:rPr>
              <a:t> </a:t>
            </a:r>
            <a:r>
              <a:rPr lang="en-US" sz="2000" b="0" i="0" u="none" strike="noStrike" baseline="0" dirty="0" smtClean="0">
                <a:latin typeface="HelveticaNeueLTStd-Cn"/>
              </a:rPr>
              <a:t>completely in water, producing hydroxide</a:t>
            </a:r>
            <a:r>
              <a:rPr lang="en-US" sz="2000" b="0" i="0" u="none" strike="noStrike" dirty="0" smtClean="0">
                <a:latin typeface="HelveticaNeueLTStd-Cn"/>
              </a:rPr>
              <a:t> </a:t>
            </a:r>
            <a:r>
              <a:rPr lang="en-US" sz="2000" b="0" i="0" u="none" strike="noStrike" baseline="0" dirty="0" smtClean="0">
                <a:latin typeface="HelveticaNeueLTStd-Cn"/>
              </a:rPr>
              <a:t>ions</a:t>
            </a:r>
          </a:p>
          <a:p>
            <a:endParaRPr lang="en-US" sz="2000" b="0" i="0" u="none" strike="noStrike" baseline="0" dirty="0" smtClean="0">
              <a:latin typeface="HelveticaNeueLTStd-Cn"/>
            </a:endParaRPr>
          </a:p>
          <a:p>
            <a:r>
              <a:rPr lang="en-US" sz="2000" b="1" i="0" u="none" strike="noStrike" baseline="0" dirty="0" smtClean="0">
                <a:latin typeface="HelveticaNeueLTStd-BdCn"/>
              </a:rPr>
              <a:t>weak base </a:t>
            </a:r>
            <a:r>
              <a:rPr lang="en-US" sz="2000" b="0" i="0" u="none" strike="noStrike" baseline="0" dirty="0" smtClean="0">
                <a:latin typeface="HelveticaNeueLTStd-Cn"/>
              </a:rPr>
              <a:t>a base that only partially</a:t>
            </a:r>
            <a:r>
              <a:rPr lang="en-US" sz="2000" b="0" i="0" u="none" strike="noStrike" dirty="0" smtClean="0">
                <a:latin typeface="HelveticaNeueLTStd-Cn"/>
              </a:rPr>
              <a:t> </a:t>
            </a:r>
            <a:r>
              <a:rPr lang="en-US" sz="2000" b="0" i="0" u="none" strike="noStrike" baseline="0" dirty="0" smtClean="0">
                <a:latin typeface="HelveticaNeueLTStd-Cn"/>
              </a:rPr>
              <a:t>reacts with water to produce hydroxide</a:t>
            </a:r>
            <a:r>
              <a:rPr lang="en-US" sz="2000" b="0" i="0" u="none" strike="noStrike" dirty="0" smtClean="0">
                <a:latin typeface="HelveticaNeueLTStd-Cn"/>
              </a:rPr>
              <a:t> </a:t>
            </a:r>
            <a:r>
              <a:rPr lang="en-US" sz="2000" b="0" i="0" u="none" strike="noStrike" baseline="0" dirty="0" smtClean="0">
                <a:latin typeface="HelveticaNeueLTStd-Cn"/>
              </a:rPr>
              <a:t>ions</a:t>
            </a:r>
            <a:endParaRPr lang="en-US" sz="2000" dirty="0" smtClean="0"/>
          </a:p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960" y="2307528"/>
            <a:ext cx="6778448" cy="62166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39" y="3377922"/>
            <a:ext cx="8833049" cy="1893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3262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036" y="1590819"/>
            <a:ext cx="7840620" cy="149548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036" y="3086306"/>
            <a:ext cx="5451026" cy="117881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8674" y="4265118"/>
            <a:ext cx="6225726" cy="201661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913036" y="381637"/>
            <a:ext cx="1019946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i="0" u="none" strike="noStrike" baseline="0" dirty="0" smtClean="0">
                <a:latin typeface="HelveticaNeueLTStd-BdCn"/>
              </a:rPr>
              <a:t>base ionization constant (</a:t>
            </a:r>
            <a:r>
              <a:rPr lang="en-US" sz="2000" b="1" i="1" u="none" strike="noStrike" baseline="0" dirty="0" smtClean="0">
                <a:latin typeface="HelveticaNeueLTStd-BdCnO"/>
              </a:rPr>
              <a:t>K</a:t>
            </a:r>
            <a:r>
              <a:rPr lang="en-US" sz="900" b="1" i="0" u="none" strike="noStrike" baseline="0" dirty="0" smtClean="0">
                <a:latin typeface="HelveticaNeueLTStd-BdCn"/>
              </a:rPr>
              <a:t>b</a:t>
            </a:r>
            <a:r>
              <a:rPr lang="en-US" sz="2000" b="1" i="0" u="none" strike="noStrike" baseline="0" dirty="0" smtClean="0">
                <a:latin typeface="HelveticaNeueLTStd-BdCn"/>
              </a:rPr>
              <a:t>) </a:t>
            </a:r>
            <a:r>
              <a:rPr lang="en-US" sz="2000" b="0" i="0" u="none" strike="noStrike" baseline="0" dirty="0" smtClean="0">
                <a:latin typeface="HelveticaNeueLTStd-Cn"/>
              </a:rPr>
              <a:t>the</a:t>
            </a:r>
            <a:r>
              <a:rPr lang="en-US" sz="2000" b="0" i="0" u="none" strike="noStrike" dirty="0" smtClean="0">
                <a:latin typeface="HelveticaNeueLTStd-Cn"/>
              </a:rPr>
              <a:t> </a:t>
            </a:r>
            <a:r>
              <a:rPr lang="en-US" sz="2000" b="0" i="0" u="none" strike="noStrike" baseline="0" dirty="0" smtClean="0">
                <a:latin typeface="HelveticaNeueLTStd-Cn"/>
              </a:rPr>
              <a:t>equilibrium constant for the ionization of</a:t>
            </a:r>
            <a:r>
              <a:rPr lang="en-US" sz="2000" b="0" i="0" u="none" strike="noStrike" dirty="0" smtClean="0">
                <a:latin typeface="HelveticaNeueLTStd-Cn"/>
              </a:rPr>
              <a:t> </a:t>
            </a:r>
            <a:r>
              <a:rPr lang="en-US" sz="2000" b="0" i="0" u="none" strike="noStrike" baseline="0" dirty="0" smtClean="0">
                <a:latin typeface="HelveticaNeueLTStd-Cn"/>
              </a:rPr>
              <a:t>a base; also called the</a:t>
            </a:r>
            <a:r>
              <a:rPr lang="en-US" sz="2000" b="0" i="0" u="none" strike="noStrike" dirty="0" smtClean="0">
                <a:latin typeface="HelveticaNeueLTStd-Cn"/>
              </a:rPr>
              <a:t> </a:t>
            </a:r>
            <a:r>
              <a:rPr lang="en-US" sz="2000" b="0" i="0" u="none" strike="noStrike" baseline="0" dirty="0" smtClean="0">
                <a:latin typeface="HelveticaNeueLTStd-Cn"/>
              </a:rPr>
              <a:t>base dissociation</a:t>
            </a:r>
            <a:r>
              <a:rPr lang="en-US" sz="2000" b="0" i="0" u="none" strike="noStrike" dirty="0" smtClean="0">
                <a:latin typeface="HelveticaNeueLTStd-Cn"/>
              </a:rPr>
              <a:t> </a:t>
            </a:r>
            <a:r>
              <a:rPr lang="en-US" sz="2000" b="0" i="0" u="none" strike="noStrike" baseline="0" dirty="0" smtClean="0">
                <a:latin typeface="HelveticaNeueLTStd-Cn"/>
              </a:rPr>
              <a:t>constant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6062225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5550" y="390885"/>
            <a:ext cx="6009950" cy="86346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9350" y="1401856"/>
            <a:ext cx="5376750" cy="5241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30395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96" y="60654"/>
            <a:ext cx="6712996" cy="66234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924" y="1285325"/>
            <a:ext cx="6607307" cy="173741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96" y="3437391"/>
            <a:ext cx="4671498" cy="49683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95" y="4014533"/>
            <a:ext cx="4154171" cy="49704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694" y="4543403"/>
            <a:ext cx="2828311" cy="66427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9955" y="4263055"/>
            <a:ext cx="7188980" cy="229014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31800" y="766406"/>
            <a:ext cx="100965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i="0" u="none" strike="noStrike" baseline="0" dirty="0" err="1" smtClean="0">
                <a:latin typeface="HelveticaNeueLTStd-BdCn"/>
              </a:rPr>
              <a:t>autoionization</a:t>
            </a:r>
            <a:r>
              <a:rPr lang="en-US" b="1" i="0" u="none" strike="noStrike" baseline="0" dirty="0" smtClean="0">
                <a:latin typeface="HelveticaNeueLTStd-BdCn"/>
              </a:rPr>
              <a:t> of water </a:t>
            </a:r>
            <a:r>
              <a:rPr lang="en-US" b="0" i="0" u="none" strike="noStrike" baseline="0" dirty="0" smtClean="0">
                <a:latin typeface="HelveticaNeueLTStd-Cn"/>
              </a:rPr>
              <a:t>the transfer of</a:t>
            </a:r>
            <a:r>
              <a:rPr lang="en-US" b="0" i="0" u="none" strike="noStrike" dirty="0" smtClean="0">
                <a:latin typeface="HelveticaNeueLTStd-Cn"/>
              </a:rPr>
              <a:t> </a:t>
            </a:r>
            <a:r>
              <a:rPr lang="en-US" b="0" i="0" u="none" strike="noStrike" baseline="0" dirty="0" smtClean="0">
                <a:latin typeface="HelveticaNeueLTStd-Cn"/>
              </a:rPr>
              <a:t>a hydrogen ion from one water molecule</a:t>
            </a:r>
            <a:r>
              <a:rPr lang="en-US" b="0" i="0" u="none" strike="noStrike" dirty="0" smtClean="0">
                <a:latin typeface="HelveticaNeueLTStd-Cn"/>
              </a:rPr>
              <a:t> </a:t>
            </a:r>
            <a:r>
              <a:rPr lang="en-US" b="0" i="0" u="none" strike="noStrike" baseline="0" dirty="0" smtClean="0">
                <a:latin typeface="HelveticaNeueLTStd-Cn"/>
              </a:rPr>
              <a:t>to another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558924" y="2907949"/>
            <a:ext cx="1051547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i="0" u="none" strike="noStrike" baseline="0" dirty="0" smtClean="0">
                <a:latin typeface="HelveticaNeueLTStd-BdCn"/>
              </a:rPr>
              <a:t>ion-product constant for water (</a:t>
            </a:r>
            <a:r>
              <a:rPr lang="en-US" sz="2000" b="1" i="1" u="none" strike="noStrike" baseline="0" dirty="0" smtClean="0">
                <a:latin typeface="HelveticaNeueLTStd-BdCnO"/>
              </a:rPr>
              <a:t>K</a:t>
            </a:r>
            <a:r>
              <a:rPr lang="en-US" sz="900" b="1" i="0" u="none" strike="noStrike" baseline="0" dirty="0" smtClean="0">
                <a:latin typeface="HelveticaNeueLTStd-BdCn"/>
              </a:rPr>
              <a:t>w</a:t>
            </a:r>
            <a:r>
              <a:rPr lang="en-US" sz="2000" b="1" i="0" u="none" strike="noStrike" baseline="0" dirty="0" smtClean="0">
                <a:latin typeface="HelveticaNeueLTStd-BdCn"/>
              </a:rPr>
              <a:t>) </a:t>
            </a:r>
            <a:r>
              <a:rPr lang="en-US" b="0" i="0" u="none" strike="noStrike" baseline="0" dirty="0" smtClean="0">
                <a:latin typeface="HelveticaNeueLTStd-Cn"/>
              </a:rPr>
              <a:t>the</a:t>
            </a:r>
            <a:r>
              <a:rPr lang="en-US" b="0" i="0" u="none" strike="noStrike" dirty="0" smtClean="0">
                <a:latin typeface="HelveticaNeueLTStd-Cn"/>
              </a:rPr>
              <a:t> </a:t>
            </a:r>
            <a:r>
              <a:rPr lang="en-US" b="0" i="0" u="none" strike="noStrike" baseline="0" dirty="0" smtClean="0">
                <a:latin typeface="HelveticaNeueLTStd-Cn"/>
              </a:rPr>
              <a:t>equilibrium constant for the </a:t>
            </a:r>
            <a:r>
              <a:rPr lang="en-US" b="0" i="0" u="none" strike="noStrike" baseline="0" dirty="0" err="1" smtClean="0">
                <a:latin typeface="HelveticaNeueLTStd-Cn"/>
              </a:rPr>
              <a:t>autoionization</a:t>
            </a:r>
            <a:r>
              <a:rPr lang="en-US" dirty="0">
                <a:latin typeface="HelveticaNeueLTStd-Cn"/>
              </a:rPr>
              <a:t> </a:t>
            </a:r>
            <a:r>
              <a:rPr lang="en-US" b="0" i="0" u="none" strike="noStrike" baseline="0" dirty="0" smtClean="0">
                <a:latin typeface="HelveticaNeueLTStd-Cn"/>
              </a:rPr>
              <a:t>of water</a:t>
            </a:r>
          </a:p>
        </p:txBody>
      </p:sp>
    </p:spTree>
    <p:extLst>
      <p:ext uri="{BB962C8B-B14F-4D97-AF65-F5344CB8AC3E}">
        <p14:creationId xmlns:p14="http://schemas.microsoft.com/office/powerpoint/2010/main" val="27892961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349" y="229818"/>
            <a:ext cx="10527151" cy="290082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350" y="3346982"/>
            <a:ext cx="8859550" cy="3168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89278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8500" y="191025"/>
            <a:ext cx="5167942" cy="80650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54180" y="997527"/>
            <a:ext cx="10086109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HelveticaNeueLTStd-BdCn"/>
              </a:rPr>
              <a:t>pH</a:t>
            </a:r>
            <a:r>
              <a:rPr lang="en-US" dirty="0">
                <a:latin typeface="HelveticaNeueLTStd-BdCn"/>
              </a:rPr>
              <a:t> </a:t>
            </a:r>
            <a:r>
              <a:rPr lang="en-US" dirty="0">
                <a:latin typeface="HelveticaNeueLTStd-Cn"/>
              </a:rPr>
              <a:t>the negative logarithm of </a:t>
            </a:r>
            <a:r>
              <a:rPr lang="en-US" dirty="0" smtClean="0">
                <a:latin typeface="HelveticaNeueLTStd-Cn"/>
              </a:rPr>
              <a:t>the concentration </a:t>
            </a:r>
            <a:r>
              <a:rPr lang="en-US" dirty="0">
                <a:latin typeface="HelveticaNeueLTStd-Cn"/>
              </a:rPr>
              <a:t>of hydrogen ions in </a:t>
            </a:r>
            <a:r>
              <a:rPr lang="en-US" dirty="0" smtClean="0">
                <a:latin typeface="HelveticaNeueLTStd-Cn"/>
              </a:rPr>
              <a:t>an aqueous solution</a:t>
            </a:r>
          </a:p>
          <a:p>
            <a:endParaRPr lang="en-US" dirty="0" smtClean="0">
              <a:latin typeface="HelveticaNeueLTStd-Cn"/>
            </a:endParaRPr>
          </a:p>
          <a:p>
            <a:r>
              <a:rPr lang="en-US" b="1" dirty="0">
                <a:latin typeface="HelveticaNeueLTStd-BdCn"/>
              </a:rPr>
              <a:t>pOH</a:t>
            </a:r>
            <a:r>
              <a:rPr lang="en-US" dirty="0">
                <a:latin typeface="HelveticaNeueLTStd-BdCn"/>
              </a:rPr>
              <a:t> </a:t>
            </a:r>
            <a:r>
              <a:rPr lang="en-US" dirty="0">
                <a:latin typeface="HelveticaNeueLTStd-Cn"/>
              </a:rPr>
              <a:t>the negative logarithm of </a:t>
            </a:r>
            <a:r>
              <a:rPr lang="en-US" dirty="0" smtClean="0">
                <a:latin typeface="HelveticaNeueLTStd-Cn"/>
              </a:rPr>
              <a:t>the concentration </a:t>
            </a:r>
            <a:r>
              <a:rPr lang="en-US" dirty="0">
                <a:latin typeface="HelveticaNeueLTStd-Cn"/>
              </a:rPr>
              <a:t>of hydroxide ions in </a:t>
            </a:r>
            <a:r>
              <a:rPr lang="en-US" dirty="0" smtClean="0">
                <a:latin typeface="HelveticaNeueLTStd-Cn"/>
              </a:rPr>
              <a:t>an aqueous </a:t>
            </a:r>
            <a:r>
              <a:rPr lang="en-US" dirty="0">
                <a:latin typeface="HelveticaNeueLTStd-Cn"/>
              </a:rPr>
              <a:t>solution</a:t>
            </a:r>
            <a:endParaRPr lang="en-US" dirty="0"/>
          </a:p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4578" y="2062378"/>
            <a:ext cx="5261874" cy="63771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180" y="2860929"/>
            <a:ext cx="4232634" cy="180802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144" y="5059167"/>
            <a:ext cx="4945378" cy="105945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97039" y="2700092"/>
            <a:ext cx="6044540" cy="3878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908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413" y="277514"/>
            <a:ext cx="10762166" cy="11594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413" y="1436913"/>
            <a:ext cx="10762166" cy="232756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413" y="3764478"/>
            <a:ext cx="10762166" cy="2945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62989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667" y="311609"/>
            <a:ext cx="6450520" cy="101466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667" y="1326270"/>
            <a:ext cx="6450520" cy="111295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667" y="2439229"/>
            <a:ext cx="6450520" cy="101649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9667" y="3455719"/>
            <a:ext cx="6450520" cy="98565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9667" y="4441370"/>
            <a:ext cx="8694956" cy="2142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75924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454" y="559189"/>
            <a:ext cx="8474571" cy="5744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8227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184" y="306092"/>
            <a:ext cx="9163963" cy="83393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183" y="1140031"/>
            <a:ext cx="9163963" cy="511103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5076" y="1651134"/>
            <a:ext cx="8960481" cy="6408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4923" y="2485073"/>
            <a:ext cx="8960481" cy="3432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4883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151" y="237042"/>
            <a:ext cx="6393602" cy="57048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48151" y="807522"/>
            <a:ext cx="1035527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HelveticaNeueLTStd-BdCn"/>
              </a:rPr>
              <a:t>percentage ionization </a:t>
            </a:r>
            <a:r>
              <a:rPr lang="en-US" dirty="0">
                <a:latin typeface="HelveticaNeueLTStd-Cn"/>
              </a:rPr>
              <a:t>the percentage </a:t>
            </a:r>
            <a:r>
              <a:rPr lang="en-US" dirty="0" smtClean="0">
                <a:latin typeface="HelveticaNeueLTStd-Cn"/>
              </a:rPr>
              <a:t>of a </a:t>
            </a:r>
            <a:r>
              <a:rPr lang="en-US" dirty="0">
                <a:latin typeface="HelveticaNeueLTStd-Cn"/>
              </a:rPr>
              <a:t>solute that ionizes when it dissolves </a:t>
            </a:r>
            <a:r>
              <a:rPr lang="en-US" dirty="0" smtClean="0">
                <a:latin typeface="HelveticaNeueLTStd-Cn"/>
              </a:rPr>
              <a:t>in a </a:t>
            </a:r>
            <a:r>
              <a:rPr lang="en-US" dirty="0">
                <a:latin typeface="HelveticaNeueLTStd-Cn"/>
              </a:rPr>
              <a:t>solvent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158" y="1378002"/>
            <a:ext cx="10593271" cy="139306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814" y="2941436"/>
            <a:ext cx="9695957" cy="2596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7537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543" y="334871"/>
            <a:ext cx="10689386" cy="272848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985" y="3063358"/>
            <a:ext cx="10680915" cy="2387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0872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417" y="185521"/>
            <a:ext cx="10188000" cy="390233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417" y="4087854"/>
            <a:ext cx="10188000" cy="2392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7058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142" y="154438"/>
            <a:ext cx="7105310" cy="237915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142" y="2814250"/>
            <a:ext cx="11052305" cy="2434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4164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8817" y="0"/>
            <a:ext cx="4958902" cy="85389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44186" y="956401"/>
            <a:ext cx="9492344" cy="12618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err="1">
                <a:latin typeface="HelveticaNeueLTStd-BdCn"/>
              </a:rPr>
              <a:t>monoprotic</a:t>
            </a:r>
            <a:r>
              <a:rPr lang="en-US" sz="2000" b="1" dirty="0">
                <a:latin typeface="HelveticaNeueLTStd-BdCn"/>
              </a:rPr>
              <a:t> acid </a:t>
            </a:r>
            <a:r>
              <a:rPr lang="en-US" dirty="0">
                <a:latin typeface="HelveticaNeueLTStd-Cn"/>
              </a:rPr>
              <a:t>an acid that </a:t>
            </a:r>
            <a:r>
              <a:rPr lang="en-US" dirty="0" smtClean="0">
                <a:latin typeface="HelveticaNeueLTStd-Cn"/>
              </a:rPr>
              <a:t>possesses only </a:t>
            </a:r>
            <a:r>
              <a:rPr lang="en-US" dirty="0">
                <a:latin typeface="HelveticaNeueLTStd-Cn"/>
              </a:rPr>
              <a:t>one </a:t>
            </a:r>
            <a:r>
              <a:rPr lang="en-US" dirty="0" err="1">
                <a:latin typeface="HelveticaNeueLTStd-Cn"/>
              </a:rPr>
              <a:t>ionizable</a:t>
            </a:r>
            <a:r>
              <a:rPr lang="en-US" dirty="0">
                <a:latin typeface="HelveticaNeueLTStd-Cn"/>
              </a:rPr>
              <a:t> (acidic) hydrogen </a:t>
            </a:r>
            <a:r>
              <a:rPr lang="en-US" dirty="0" smtClean="0">
                <a:latin typeface="HelveticaNeueLTStd-Cn"/>
              </a:rPr>
              <a:t>atom</a:t>
            </a:r>
          </a:p>
          <a:p>
            <a:endParaRPr lang="en-US" dirty="0">
              <a:latin typeface="HelveticaNeueLTStd-Cn"/>
            </a:endParaRPr>
          </a:p>
          <a:p>
            <a:r>
              <a:rPr lang="en-US" sz="2000" b="1" dirty="0" err="1" smtClean="0">
                <a:latin typeface="HelveticaNeueLTStd-BdCn"/>
              </a:rPr>
              <a:t>polyprotic</a:t>
            </a:r>
            <a:r>
              <a:rPr lang="en-US" sz="2000" b="1" dirty="0" smtClean="0">
                <a:latin typeface="HelveticaNeueLTStd-BdCn"/>
              </a:rPr>
              <a:t> </a:t>
            </a:r>
            <a:r>
              <a:rPr lang="en-US" sz="2000" b="1" dirty="0">
                <a:latin typeface="HelveticaNeueLTStd-BdCn"/>
              </a:rPr>
              <a:t>acid </a:t>
            </a:r>
            <a:r>
              <a:rPr lang="en-US" dirty="0">
                <a:latin typeface="HelveticaNeueLTStd-Cn"/>
              </a:rPr>
              <a:t>an acid that </a:t>
            </a:r>
            <a:r>
              <a:rPr lang="en-US" dirty="0" smtClean="0">
                <a:latin typeface="HelveticaNeueLTStd-Cn"/>
              </a:rPr>
              <a:t>possesses more </a:t>
            </a:r>
            <a:r>
              <a:rPr lang="en-US" dirty="0">
                <a:latin typeface="HelveticaNeueLTStd-Cn"/>
              </a:rPr>
              <a:t>than one </a:t>
            </a:r>
            <a:r>
              <a:rPr lang="en-US" dirty="0" err="1">
                <a:latin typeface="HelveticaNeueLTStd-Cn"/>
              </a:rPr>
              <a:t>ionizable</a:t>
            </a:r>
            <a:r>
              <a:rPr lang="en-US" dirty="0">
                <a:latin typeface="HelveticaNeueLTStd-Cn"/>
              </a:rPr>
              <a:t> (acidic) </a:t>
            </a:r>
            <a:r>
              <a:rPr lang="en-US" dirty="0" smtClean="0">
                <a:latin typeface="HelveticaNeueLTStd-Cn"/>
              </a:rPr>
              <a:t>hydrogen atom</a:t>
            </a:r>
            <a:endParaRPr lang="en-US" dirty="0"/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185" y="2044566"/>
            <a:ext cx="4685717" cy="55612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930" y="2539361"/>
            <a:ext cx="4276584" cy="53856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4185" y="3041838"/>
            <a:ext cx="4428850" cy="47722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5416" y="3688860"/>
            <a:ext cx="5499742" cy="1917526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95157" y="3519065"/>
            <a:ext cx="5332021" cy="2074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220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293" y="384836"/>
            <a:ext cx="9672735" cy="286666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293" y="3645461"/>
            <a:ext cx="9636476" cy="1544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16754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405" y="1401289"/>
            <a:ext cx="11461089" cy="3574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0222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806" y="341759"/>
            <a:ext cx="10097488" cy="84577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806" y="1317676"/>
            <a:ext cx="6999945" cy="34486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806" y="1887712"/>
            <a:ext cx="6843649" cy="57048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805" y="2458192"/>
            <a:ext cx="6843649" cy="200712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804" y="4477186"/>
            <a:ext cx="6810019" cy="2006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2456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921" y="470776"/>
            <a:ext cx="10055991" cy="217075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164" y="2918467"/>
            <a:ext cx="8605542" cy="46564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921" y="3894886"/>
            <a:ext cx="8843761" cy="1484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89175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416" y="118893"/>
            <a:ext cx="8468701" cy="273208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416" y="3207241"/>
            <a:ext cx="8693213" cy="2777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3018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318" y="184996"/>
            <a:ext cx="10659363" cy="86003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764" y="1542740"/>
            <a:ext cx="4899878" cy="60901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98" y="2649468"/>
            <a:ext cx="5737501" cy="297943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6037" y="1644416"/>
            <a:ext cx="5463261" cy="50734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61797" y="2526069"/>
            <a:ext cx="5737501" cy="3102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386758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905" y="272990"/>
            <a:ext cx="8410214" cy="214453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905" y="2660116"/>
            <a:ext cx="6712043" cy="52403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680" y="3297626"/>
            <a:ext cx="8325439" cy="3375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03244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778" y="220743"/>
            <a:ext cx="8214961" cy="219396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778" y="2414706"/>
            <a:ext cx="8214961" cy="1884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0182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064" y="483251"/>
            <a:ext cx="8021307" cy="5539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58941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262" y="640378"/>
            <a:ext cx="6762465" cy="475903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262" y="1323381"/>
            <a:ext cx="7992536" cy="143766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7263" y="2968144"/>
            <a:ext cx="4489138" cy="4638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7262" y="3704899"/>
            <a:ext cx="10044225" cy="2066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2339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548" y="518755"/>
            <a:ext cx="8010190" cy="5620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72621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8947" y="677820"/>
            <a:ext cx="8545552" cy="5259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06948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283" y="158761"/>
            <a:ext cx="8504256" cy="648761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71283" y="1543792"/>
            <a:ext cx="7473309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HelveticaNeueLTStd-BdCn"/>
              </a:rPr>
              <a:t>titration</a:t>
            </a:r>
            <a:r>
              <a:rPr lang="en-US" dirty="0">
                <a:latin typeface="HelveticaNeueLTStd-BdCn"/>
              </a:rPr>
              <a:t> </a:t>
            </a:r>
            <a:r>
              <a:rPr lang="en-US" dirty="0">
                <a:latin typeface="HelveticaNeueLTStd-Cn"/>
              </a:rPr>
              <a:t>the addition of precise </a:t>
            </a:r>
            <a:r>
              <a:rPr lang="en-US" dirty="0" smtClean="0">
                <a:latin typeface="HelveticaNeueLTStd-Cn"/>
              </a:rPr>
              <a:t>volumes of </a:t>
            </a:r>
            <a:r>
              <a:rPr lang="en-US" dirty="0">
                <a:latin typeface="HelveticaNeueLTStd-Cn"/>
              </a:rPr>
              <a:t>a solution in a burette to a </a:t>
            </a:r>
            <a:r>
              <a:rPr lang="en-US" dirty="0" smtClean="0">
                <a:latin typeface="HelveticaNeueLTStd-Cn"/>
              </a:rPr>
              <a:t>measured volume </a:t>
            </a:r>
            <a:r>
              <a:rPr lang="en-US" dirty="0">
                <a:latin typeface="HelveticaNeueLTStd-Cn"/>
              </a:rPr>
              <a:t>of a sample solution; often </a:t>
            </a:r>
            <a:r>
              <a:rPr lang="en-US" dirty="0" smtClean="0">
                <a:latin typeface="HelveticaNeueLTStd-Cn"/>
              </a:rPr>
              <a:t>used to </a:t>
            </a:r>
            <a:r>
              <a:rPr lang="en-US" dirty="0">
                <a:latin typeface="HelveticaNeueLTStd-Cn"/>
              </a:rPr>
              <a:t>determine the concentration of </a:t>
            </a:r>
            <a:r>
              <a:rPr lang="en-US" dirty="0" smtClean="0">
                <a:latin typeface="HelveticaNeueLTStd-Cn"/>
              </a:rPr>
              <a:t>a substance </a:t>
            </a:r>
            <a:r>
              <a:rPr lang="en-US" dirty="0">
                <a:latin typeface="HelveticaNeueLTStd-Cn"/>
              </a:rPr>
              <a:t>in the </a:t>
            </a:r>
            <a:r>
              <a:rPr lang="en-US" dirty="0" smtClean="0">
                <a:latin typeface="HelveticaNeueLTStd-Cn"/>
              </a:rPr>
              <a:t>sample</a:t>
            </a:r>
          </a:p>
          <a:p>
            <a:endParaRPr lang="en-US" dirty="0">
              <a:latin typeface="HelveticaNeueLTStd-Cn"/>
            </a:endParaRPr>
          </a:p>
          <a:p>
            <a:r>
              <a:rPr lang="en-US" sz="2400" b="1" dirty="0" smtClean="0"/>
              <a:t>sample</a:t>
            </a:r>
            <a:r>
              <a:rPr lang="en-US" dirty="0" smtClean="0"/>
              <a:t> </a:t>
            </a:r>
            <a:r>
              <a:rPr lang="en-US" dirty="0"/>
              <a:t>the solution being analyzed in </a:t>
            </a:r>
            <a:r>
              <a:rPr lang="en-US" dirty="0" smtClean="0"/>
              <a:t>a titration</a:t>
            </a:r>
            <a:endParaRPr lang="en-US" dirty="0"/>
          </a:p>
          <a:p>
            <a:endParaRPr lang="en-US" dirty="0" smtClean="0"/>
          </a:p>
          <a:p>
            <a:r>
              <a:rPr lang="en-US" sz="2400" b="1" dirty="0" smtClean="0"/>
              <a:t>titrant</a:t>
            </a:r>
            <a:r>
              <a:rPr lang="en-US" dirty="0" smtClean="0"/>
              <a:t> </a:t>
            </a:r>
            <a:r>
              <a:rPr lang="en-US" dirty="0"/>
              <a:t>the solution in a burette during </a:t>
            </a:r>
            <a:r>
              <a:rPr lang="en-US" dirty="0" smtClean="0"/>
              <a:t>a titration</a:t>
            </a:r>
            <a:endParaRPr lang="en-US" dirty="0"/>
          </a:p>
          <a:p>
            <a:endParaRPr lang="en-US" dirty="0" smtClean="0"/>
          </a:p>
          <a:p>
            <a:r>
              <a:rPr lang="en-US" sz="2400" b="1" dirty="0" smtClean="0"/>
              <a:t>burette</a:t>
            </a:r>
            <a:r>
              <a:rPr lang="en-US" dirty="0" smtClean="0"/>
              <a:t> </a:t>
            </a:r>
            <a:r>
              <a:rPr lang="en-US" dirty="0"/>
              <a:t>a calibrated tube used to </a:t>
            </a:r>
            <a:r>
              <a:rPr lang="en-US" dirty="0" smtClean="0"/>
              <a:t>deliver variable </a:t>
            </a:r>
            <a:r>
              <a:rPr lang="en-US" dirty="0"/>
              <a:t>known volumes of a liquid </a:t>
            </a:r>
            <a:r>
              <a:rPr lang="en-US" dirty="0" smtClean="0"/>
              <a:t>during a </a:t>
            </a:r>
            <a:r>
              <a:rPr lang="en-US" dirty="0"/>
              <a:t>titration</a:t>
            </a:r>
            <a:endParaRPr lang="en-US" dirty="0" smtClean="0">
              <a:latin typeface="HelveticaNeueLTStd-Cn"/>
            </a:endParaRPr>
          </a:p>
          <a:p>
            <a:endParaRPr lang="en-US" dirty="0">
              <a:latin typeface="HelveticaNeueLTStd-Cn"/>
            </a:endParaRP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4593" y="991446"/>
            <a:ext cx="3740726" cy="5338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05017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48146" y="402679"/>
            <a:ext cx="10319657" cy="29546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HelveticaNeueLTStd-BdCn"/>
              </a:rPr>
              <a:t>standard solution </a:t>
            </a:r>
            <a:r>
              <a:rPr lang="en-US" dirty="0">
                <a:latin typeface="HelveticaNeueLTStd-Cn"/>
              </a:rPr>
              <a:t>a solution </a:t>
            </a:r>
            <a:r>
              <a:rPr lang="en-US" dirty="0" smtClean="0">
                <a:latin typeface="HelveticaNeueLTStd-Cn"/>
              </a:rPr>
              <a:t>whose concentration </a:t>
            </a:r>
            <a:r>
              <a:rPr lang="en-US" dirty="0">
                <a:latin typeface="HelveticaNeueLTStd-Cn"/>
              </a:rPr>
              <a:t>is accurately and </a:t>
            </a:r>
            <a:r>
              <a:rPr lang="en-US" dirty="0" smtClean="0">
                <a:latin typeface="HelveticaNeueLTStd-Cn"/>
              </a:rPr>
              <a:t>precisely known</a:t>
            </a:r>
            <a:endParaRPr lang="en-US" dirty="0">
              <a:latin typeface="HelveticaNeueLTStd-Cn"/>
            </a:endParaRPr>
          </a:p>
          <a:p>
            <a:endParaRPr lang="en-US" dirty="0" smtClean="0">
              <a:latin typeface="HelveticaNeueLTStd-BdCn"/>
            </a:endParaRPr>
          </a:p>
          <a:p>
            <a:r>
              <a:rPr lang="en-US" sz="2400" b="1" dirty="0" smtClean="0">
                <a:latin typeface="HelveticaNeueLTStd-BdCn"/>
              </a:rPr>
              <a:t>primary </a:t>
            </a:r>
            <a:r>
              <a:rPr lang="en-US" sz="2400" b="1" dirty="0">
                <a:latin typeface="HelveticaNeueLTStd-BdCn"/>
              </a:rPr>
              <a:t>standard </a:t>
            </a:r>
            <a:r>
              <a:rPr lang="en-US" dirty="0">
                <a:latin typeface="HelveticaNeueLTStd-Cn"/>
              </a:rPr>
              <a:t>a highly pure </a:t>
            </a:r>
            <a:r>
              <a:rPr lang="en-US" dirty="0" smtClean="0">
                <a:latin typeface="HelveticaNeueLTStd-Cn"/>
              </a:rPr>
              <a:t>and stable </a:t>
            </a:r>
            <a:r>
              <a:rPr lang="en-US" dirty="0">
                <a:latin typeface="HelveticaNeueLTStd-Cn"/>
              </a:rPr>
              <a:t>chemical used to determine </a:t>
            </a:r>
            <a:r>
              <a:rPr lang="en-US" dirty="0" smtClean="0">
                <a:latin typeface="HelveticaNeueLTStd-Cn"/>
              </a:rPr>
              <a:t>the precise </a:t>
            </a:r>
            <a:r>
              <a:rPr lang="en-US" dirty="0">
                <a:latin typeface="HelveticaNeueLTStd-Cn"/>
              </a:rPr>
              <a:t>concentration of acids or bases</a:t>
            </a:r>
          </a:p>
          <a:p>
            <a:endParaRPr lang="en-US" dirty="0" smtClean="0">
              <a:latin typeface="HelveticaNeueLTStd-BdCn"/>
            </a:endParaRPr>
          </a:p>
          <a:p>
            <a:r>
              <a:rPr lang="en-US" sz="2400" b="1" dirty="0" smtClean="0">
                <a:latin typeface="HelveticaNeueLTStd-BdCn"/>
              </a:rPr>
              <a:t>equivalence </a:t>
            </a:r>
            <a:r>
              <a:rPr lang="en-US" sz="2400" b="1" dirty="0">
                <a:latin typeface="HelveticaNeueLTStd-BdCn"/>
              </a:rPr>
              <a:t>point </a:t>
            </a:r>
            <a:r>
              <a:rPr lang="en-US" dirty="0">
                <a:latin typeface="HelveticaNeueLTStd-Cn"/>
              </a:rPr>
              <a:t>the point in a </a:t>
            </a:r>
            <a:r>
              <a:rPr lang="en-US" dirty="0" smtClean="0">
                <a:latin typeface="HelveticaNeueLTStd-Cn"/>
              </a:rPr>
              <a:t>titration when </a:t>
            </a:r>
            <a:r>
              <a:rPr lang="en-US" dirty="0">
                <a:latin typeface="HelveticaNeueLTStd-Cn"/>
              </a:rPr>
              <a:t>neutralization is complete</a:t>
            </a:r>
          </a:p>
          <a:p>
            <a:endParaRPr lang="en-US" dirty="0" smtClean="0">
              <a:latin typeface="HelveticaNeueLTStd-BdCn"/>
            </a:endParaRPr>
          </a:p>
          <a:p>
            <a:r>
              <a:rPr lang="en-US" sz="2400" b="1" dirty="0" smtClean="0">
                <a:latin typeface="HelveticaNeueLTStd-BdCn"/>
              </a:rPr>
              <a:t>endpoint </a:t>
            </a:r>
            <a:r>
              <a:rPr lang="en-US" sz="2400" b="1" dirty="0">
                <a:latin typeface="HelveticaNeueLTStd-Cn"/>
              </a:rPr>
              <a:t>the point </a:t>
            </a:r>
            <a:r>
              <a:rPr lang="en-US" dirty="0">
                <a:latin typeface="HelveticaNeueLTStd-Cn"/>
              </a:rPr>
              <a:t>in a titration at </a:t>
            </a:r>
            <a:r>
              <a:rPr lang="en-US" dirty="0" smtClean="0">
                <a:latin typeface="HelveticaNeueLTStd-Cn"/>
              </a:rPr>
              <a:t>which a </a:t>
            </a:r>
            <a:r>
              <a:rPr lang="en-US" dirty="0">
                <a:latin typeface="HelveticaNeueLTStd-Cn"/>
              </a:rPr>
              <a:t>sharp change in a measurable </a:t>
            </a:r>
            <a:r>
              <a:rPr lang="en-US" dirty="0" smtClean="0">
                <a:latin typeface="HelveticaNeueLTStd-Cn"/>
              </a:rPr>
              <a:t>and characteristic </a:t>
            </a:r>
            <a:r>
              <a:rPr lang="en-US" dirty="0">
                <a:latin typeface="HelveticaNeueLTStd-Cn"/>
              </a:rPr>
              <a:t>property occurs (for </a:t>
            </a:r>
            <a:r>
              <a:rPr lang="en-US" dirty="0" smtClean="0">
                <a:latin typeface="HelveticaNeueLTStd-Cn"/>
              </a:rPr>
              <a:t>example, a </a:t>
            </a:r>
            <a:r>
              <a:rPr lang="en-US" dirty="0" err="1">
                <a:latin typeface="HelveticaNeueLTStd-Cn"/>
              </a:rPr>
              <a:t>colour</a:t>
            </a:r>
            <a:r>
              <a:rPr lang="en-US" dirty="0">
                <a:latin typeface="HelveticaNeueLTStd-Cn"/>
              </a:rPr>
              <a:t> change in an acid–base indicator)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335" y="3357333"/>
            <a:ext cx="7077693" cy="84211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145" y="4199450"/>
            <a:ext cx="5842855" cy="47942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145" y="4859208"/>
            <a:ext cx="9321581" cy="1614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73725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941" y="164940"/>
            <a:ext cx="9351344" cy="6259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7601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662" y="139676"/>
            <a:ext cx="10296365" cy="73909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334" y="1364328"/>
            <a:ext cx="9806206" cy="4927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469892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29146" y="893604"/>
            <a:ext cx="845820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Clr>
                <a:srgbClr val="FFC000"/>
              </a:buClr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A 0.1 M of 50 </a:t>
            </a:r>
            <a:r>
              <a:rPr lang="en-US" sz="2400" dirty="0" err="1" smtClean="0">
                <a:latin typeface="Arial" pitchFamily="34" charset="0"/>
                <a:cs typeface="Arial" pitchFamily="34" charset="0"/>
              </a:rPr>
              <a:t>mL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 smtClean="0">
                <a:latin typeface="Arial" pitchFamily="34" charset="0"/>
                <a:cs typeface="Arial" pitchFamily="34" charset="0"/>
              </a:rPr>
              <a:t>HCl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solution is titrated with 0.1 M </a:t>
            </a:r>
            <a:r>
              <a:rPr lang="en-US" sz="2400" dirty="0" err="1" smtClean="0">
                <a:latin typeface="Arial" pitchFamily="34" charset="0"/>
                <a:cs typeface="Arial" pitchFamily="34" charset="0"/>
              </a:rPr>
              <a:t>NaOH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</a:t>
            </a:r>
          </a:p>
          <a:p>
            <a:pPr marL="457200" indent="-457200">
              <a:lnSpc>
                <a:spcPct val="150000"/>
              </a:lnSpc>
              <a:buClr>
                <a:srgbClr val="FFC000"/>
              </a:buClr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solution. Calculate the pH of the final solutions in each of the </a:t>
            </a:r>
          </a:p>
          <a:p>
            <a:pPr marL="457200" indent="-457200">
              <a:lnSpc>
                <a:spcPct val="150000"/>
              </a:lnSpc>
              <a:buClr>
                <a:srgbClr val="FFC000"/>
              </a:buClr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following cases and draw a curve showing pH versus volume </a:t>
            </a:r>
          </a:p>
          <a:p>
            <a:pPr marL="457200" indent="-457200">
              <a:lnSpc>
                <a:spcPct val="150000"/>
              </a:lnSpc>
              <a:buClr>
                <a:srgbClr val="FFC000"/>
              </a:buClr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of </a:t>
            </a:r>
            <a:r>
              <a:rPr lang="en-US" sz="2400" dirty="0" err="1" smtClean="0">
                <a:latin typeface="Arial" pitchFamily="34" charset="0"/>
                <a:cs typeface="Arial" pitchFamily="34" charset="0"/>
              </a:rPr>
              <a:t>NaOH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added.</a:t>
            </a:r>
          </a:p>
          <a:p>
            <a:pPr marL="457200" indent="-457200">
              <a:lnSpc>
                <a:spcPct val="150000"/>
              </a:lnSpc>
              <a:buClr>
                <a:srgbClr val="FFC000"/>
              </a:buClr>
              <a:buAutoNum type="alphaLcPeriod"/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In the original acid solution.</a:t>
            </a:r>
          </a:p>
          <a:p>
            <a:pPr marL="457200" indent="-457200">
              <a:lnSpc>
                <a:spcPct val="150000"/>
              </a:lnSpc>
              <a:buClr>
                <a:srgbClr val="FFC000"/>
              </a:buClr>
              <a:buAutoNum type="alphaLcPeriod"/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After 10 </a:t>
            </a:r>
            <a:r>
              <a:rPr lang="en-US" sz="2400" dirty="0" err="1" smtClean="0">
                <a:latin typeface="Arial" pitchFamily="34" charset="0"/>
                <a:cs typeface="Arial" pitchFamily="34" charset="0"/>
              </a:rPr>
              <a:t>mL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of </a:t>
            </a:r>
            <a:r>
              <a:rPr lang="en-US" sz="2400" dirty="0" err="1" smtClean="0">
                <a:latin typeface="Arial" pitchFamily="34" charset="0"/>
                <a:cs typeface="Arial" pitchFamily="34" charset="0"/>
              </a:rPr>
              <a:t>NaOH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solution has been added.</a:t>
            </a:r>
          </a:p>
          <a:p>
            <a:pPr marL="457200" indent="-457200">
              <a:lnSpc>
                <a:spcPct val="150000"/>
              </a:lnSpc>
              <a:buClr>
                <a:srgbClr val="FFC000"/>
              </a:buClr>
              <a:buAutoNum type="alphaLcPeriod"/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After 49 </a:t>
            </a:r>
            <a:r>
              <a:rPr lang="en-US" sz="2400" dirty="0" err="1" smtClean="0">
                <a:latin typeface="Arial" pitchFamily="34" charset="0"/>
                <a:cs typeface="Arial" pitchFamily="34" charset="0"/>
              </a:rPr>
              <a:t>mL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of </a:t>
            </a:r>
            <a:r>
              <a:rPr lang="en-US" sz="2400" dirty="0" err="1" smtClean="0">
                <a:latin typeface="Arial" pitchFamily="34" charset="0"/>
                <a:cs typeface="Arial" pitchFamily="34" charset="0"/>
              </a:rPr>
              <a:t>NaOH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solution has been added.</a:t>
            </a:r>
          </a:p>
          <a:p>
            <a:pPr marL="457200" indent="-457200">
              <a:lnSpc>
                <a:spcPct val="150000"/>
              </a:lnSpc>
              <a:buClr>
                <a:srgbClr val="FFC000"/>
              </a:buClr>
              <a:buAutoNum type="alphaLcPeriod"/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After 50 </a:t>
            </a:r>
            <a:r>
              <a:rPr lang="en-US" sz="2400" dirty="0" err="1" smtClean="0">
                <a:latin typeface="Arial" pitchFamily="34" charset="0"/>
                <a:cs typeface="Arial" pitchFamily="34" charset="0"/>
              </a:rPr>
              <a:t>mL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of </a:t>
            </a:r>
            <a:r>
              <a:rPr lang="en-US" sz="2400" dirty="0" err="1" smtClean="0">
                <a:latin typeface="Arial" pitchFamily="34" charset="0"/>
                <a:cs typeface="Arial" pitchFamily="34" charset="0"/>
              </a:rPr>
              <a:t>NaOH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solution has been added.</a:t>
            </a:r>
          </a:p>
          <a:p>
            <a:pPr marL="457200" indent="-457200">
              <a:lnSpc>
                <a:spcPct val="150000"/>
              </a:lnSpc>
              <a:buClr>
                <a:srgbClr val="FFC000"/>
              </a:buClr>
              <a:buAutoNum type="alphaLcPeriod"/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After 60 </a:t>
            </a:r>
            <a:r>
              <a:rPr lang="en-US" sz="2400" dirty="0" err="1" smtClean="0">
                <a:latin typeface="Arial" pitchFamily="34" charset="0"/>
                <a:cs typeface="Arial" pitchFamily="34" charset="0"/>
              </a:rPr>
              <a:t>mL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of </a:t>
            </a:r>
            <a:r>
              <a:rPr lang="en-US" sz="2400" dirty="0" err="1" smtClean="0">
                <a:latin typeface="Arial" pitchFamily="34" charset="0"/>
                <a:cs typeface="Arial" pitchFamily="34" charset="0"/>
              </a:rPr>
              <a:t>NaOH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solution has been added.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146" y="332509"/>
            <a:ext cx="24928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/>
              <a:t>Example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188250200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418" y="266022"/>
            <a:ext cx="9335600" cy="249876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418" y="2764788"/>
            <a:ext cx="9354214" cy="2436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628528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653" y="208544"/>
            <a:ext cx="9298969" cy="63460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917" y="843147"/>
            <a:ext cx="9258264" cy="236319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917" y="3206338"/>
            <a:ext cx="9182705" cy="3434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1002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644" y="222804"/>
            <a:ext cx="5792895" cy="75097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262" y="1655901"/>
            <a:ext cx="9986544" cy="3296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30968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4205" y="528470"/>
            <a:ext cx="7897306" cy="5905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505406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388" y="187377"/>
            <a:ext cx="6081670" cy="450337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7499" y="2043099"/>
            <a:ext cx="5584501" cy="3711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32777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39386" y="2326943"/>
            <a:ext cx="10189029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>
                <a:srgbClr val="FFC000"/>
              </a:buClr>
              <a:buFont typeface="Arial" pitchFamily="34" charset="0"/>
              <a:buChar char="•"/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 A buffer solution is an aqueous solution consisting of a mixture of a weak acid and its conjugate base or a weak base and its conjugate acid. </a:t>
            </a:r>
          </a:p>
          <a:p>
            <a:pPr>
              <a:lnSpc>
                <a:spcPct val="150000"/>
              </a:lnSpc>
              <a:buClr>
                <a:srgbClr val="FFC000"/>
              </a:buClr>
              <a:buFont typeface="Arial" pitchFamily="34" charset="0"/>
              <a:buChar char="•"/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 It has the property that the pH of the solution changes very little when a small amount of acid or base is added to it. </a:t>
            </a:r>
          </a:p>
          <a:p>
            <a:pPr>
              <a:lnSpc>
                <a:spcPct val="150000"/>
              </a:lnSpc>
              <a:buClr>
                <a:srgbClr val="FFC000"/>
              </a:buClr>
              <a:buFont typeface="Arial" pitchFamily="34" charset="0"/>
              <a:buChar char="•"/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 Buffer solutions are used as a means of keeping pH at a nearly constant value in a wide variety of chemical applications. Such as pH of blood, to maintain pH stability carbonic acid-bicarbonate buffer system is used.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033" y="260873"/>
            <a:ext cx="8278963" cy="59415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39386" y="1334466"/>
            <a:ext cx="9205241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HelveticaNeueLTStd-BdCn"/>
              </a:rPr>
              <a:t>buffer</a:t>
            </a:r>
            <a:r>
              <a:rPr lang="en-US" dirty="0">
                <a:latin typeface="HelveticaNeueLTStd-BdCn"/>
              </a:rPr>
              <a:t> </a:t>
            </a:r>
            <a:r>
              <a:rPr lang="en-US" dirty="0">
                <a:latin typeface="HelveticaNeueLTStd-Cn"/>
              </a:rPr>
              <a:t>an aqueous solution containing </a:t>
            </a:r>
            <a:r>
              <a:rPr lang="en-US" dirty="0" smtClean="0">
                <a:latin typeface="HelveticaNeueLTStd-Cn"/>
              </a:rPr>
              <a:t>a conjugate </a:t>
            </a:r>
            <a:r>
              <a:rPr lang="en-US" dirty="0">
                <a:latin typeface="HelveticaNeueLTStd-Cn"/>
              </a:rPr>
              <a:t>acid–base pair that maintains a</a:t>
            </a:r>
          </a:p>
          <a:p>
            <a:r>
              <a:rPr lang="en-US" dirty="0">
                <a:latin typeface="HelveticaNeueLTStd-Cn"/>
              </a:rPr>
              <a:t>nearly constant pH when an acid or </a:t>
            </a:r>
            <a:r>
              <a:rPr lang="en-US" dirty="0" smtClean="0">
                <a:latin typeface="HelveticaNeueLTStd-Cn"/>
              </a:rPr>
              <a:t>base is </a:t>
            </a:r>
            <a:r>
              <a:rPr lang="en-US" dirty="0">
                <a:latin typeface="HelveticaNeueLTStd-Cn"/>
              </a:rPr>
              <a:t>added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368689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672" y="285027"/>
            <a:ext cx="8033318" cy="226135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672" y="3049594"/>
            <a:ext cx="8434174" cy="2258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8681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672" y="1144979"/>
            <a:ext cx="10328502" cy="3562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486068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6285" y="286904"/>
            <a:ext cx="7861465" cy="6470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79492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</TotalTime>
  <Words>895</Words>
  <Application>Microsoft Office PowerPoint</Application>
  <PresentationFormat>Widescreen</PresentationFormat>
  <Paragraphs>73</Paragraphs>
  <Slides>52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62" baseType="lpstr">
      <vt:lpstr>Arial</vt:lpstr>
      <vt:lpstr>Calibri</vt:lpstr>
      <vt:lpstr>Calibri Light</vt:lpstr>
      <vt:lpstr>HelveticaNeueLTStd-Bd</vt:lpstr>
      <vt:lpstr>HelveticaNeueLTStd-BdCn</vt:lpstr>
      <vt:lpstr>HelveticaNeueLTStd-BdCnO</vt:lpstr>
      <vt:lpstr>HelveticaNeueLTStd-Cn</vt:lpstr>
      <vt:lpstr>MinionPro-Regular</vt:lpstr>
      <vt:lpstr>WWDOC01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Teacher</dc:creator>
  <cp:lastModifiedBy>Teacher</cp:lastModifiedBy>
  <cp:revision>85</cp:revision>
  <dcterms:created xsi:type="dcterms:W3CDTF">2017-11-06T15:42:19Z</dcterms:created>
  <dcterms:modified xsi:type="dcterms:W3CDTF">2017-11-06T20:53:10Z</dcterms:modified>
</cp:coreProperties>
</file>