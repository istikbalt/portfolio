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diagrams/quickStyle1.xml" ContentType="application/vnd.openxmlformats-officedocument.drawingml.diagramStyl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310" r:id="rId2"/>
    <p:sldId id="256" r:id="rId3"/>
    <p:sldId id="31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312" r:id="rId19"/>
    <p:sldId id="272" r:id="rId20"/>
    <p:sldId id="273" r:id="rId21"/>
    <p:sldId id="274" r:id="rId22"/>
    <p:sldId id="275" r:id="rId23"/>
    <p:sldId id="276" r:id="rId24"/>
    <p:sldId id="290" r:id="rId25"/>
    <p:sldId id="277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951658-7292-4238-8EDE-86B89998CB3A}" type="doc">
      <dgm:prSet loTypeId="urn:microsoft.com/office/officeart/2005/8/layout/radial3" loCatId="relationship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0DCD841-8EAC-423A-B553-31D0A2ABDBBA}">
      <dgm:prSet phldrT="[Text]"/>
      <dgm:spPr/>
      <dgm:t>
        <a:bodyPr/>
        <a:lstStyle/>
        <a:p>
          <a:r>
            <a:rPr lang="en-US" dirty="0" smtClean="0"/>
            <a:t>The Many Types of Equilibrium Constants, </a:t>
          </a:r>
          <a:r>
            <a:rPr lang="en-US" dirty="0" err="1" smtClean="0"/>
            <a:t>K</a:t>
          </a:r>
          <a:r>
            <a:rPr lang="en-US" baseline="-25000" dirty="0" err="1" smtClean="0"/>
            <a:t>eq</a:t>
          </a:r>
          <a:endParaRPr lang="en-US" baseline="-25000" dirty="0"/>
        </a:p>
      </dgm:t>
    </dgm:pt>
    <dgm:pt modelId="{39C5F35E-F364-4A7D-BD1D-A98DA29B90AA}" type="parTrans" cxnId="{36805ADF-B596-4EF5-AC31-D2737432FBA0}">
      <dgm:prSet/>
      <dgm:spPr/>
      <dgm:t>
        <a:bodyPr/>
        <a:lstStyle/>
        <a:p>
          <a:endParaRPr lang="en-US"/>
        </a:p>
      </dgm:t>
    </dgm:pt>
    <dgm:pt modelId="{9D298C6C-F5B0-4EF8-A96F-A9152472EAF3}" type="sibTrans" cxnId="{36805ADF-B596-4EF5-AC31-D2737432FBA0}">
      <dgm:prSet/>
      <dgm:spPr/>
      <dgm:t>
        <a:bodyPr/>
        <a:lstStyle/>
        <a:p>
          <a:endParaRPr lang="en-US"/>
        </a:p>
      </dgm:t>
    </dgm:pt>
    <dgm:pt modelId="{A195E1E9-2E17-4F1A-8B03-0ECD8E19C94A}">
      <dgm:prSet phldrT="[Text]"/>
      <dgm:spPr/>
      <dgm:t>
        <a:bodyPr/>
        <a:lstStyle/>
        <a:p>
          <a:r>
            <a:rPr lang="en-US" dirty="0" err="1" smtClean="0"/>
            <a:t>K</a:t>
          </a:r>
          <a:r>
            <a:rPr lang="en-US" baseline="-25000" dirty="0" err="1" smtClean="0"/>
            <a:t>c</a:t>
          </a:r>
          <a:endParaRPr lang="en-US" baseline="-25000" dirty="0"/>
        </a:p>
      </dgm:t>
    </dgm:pt>
    <dgm:pt modelId="{9DEE281E-955D-470A-BB16-05D941FD1B64}" type="parTrans" cxnId="{BA25E57B-1877-4D85-9FE9-192F5A46A09C}">
      <dgm:prSet/>
      <dgm:spPr/>
      <dgm:t>
        <a:bodyPr/>
        <a:lstStyle/>
        <a:p>
          <a:endParaRPr lang="en-US"/>
        </a:p>
      </dgm:t>
    </dgm:pt>
    <dgm:pt modelId="{25109F7E-2EE6-4B53-9577-A9E9FDA2F248}" type="sibTrans" cxnId="{BA25E57B-1877-4D85-9FE9-192F5A46A09C}">
      <dgm:prSet/>
      <dgm:spPr/>
      <dgm:t>
        <a:bodyPr/>
        <a:lstStyle/>
        <a:p>
          <a:endParaRPr lang="en-US"/>
        </a:p>
      </dgm:t>
    </dgm:pt>
    <dgm:pt modelId="{1C3EADB7-041E-44CF-A357-28DBFE1D6024}">
      <dgm:prSet phldrT="[Text]"/>
      <dgm:spPr/>
      <dgm:t>
        <a:bodyPr/>
        <a:lstStyle/>
        <a:p>
          <a:r>
            <a:rPr lang="en-US" dirty="0" err="1" smtClean="0"/>
            <a:t>K</a:t>
          </a:r>
          <a:r>
            <a:rPr lang="en-US" baseline="-25000" dirty="0" err="1" smtClean="0"/>
            <a:t>p</a:t>
          </a:r>
          <a:endParaRPr lang="en-US" baseline="-25000" dirty="0"/>
        </a:p>
      </dgm:t>
    </dgm:pt>
    <dgm:pt modelId="{DF00E2A2-0963-4DA2-89BB-0ACEE8DE1EE2}" type="parTrans" cxnId="{E7E5F306-060D-4431-BDA2-8208911A4F5A}">
      <dgm:prSet/>
      <dgm:spPr/>
      <dgm:t>
        <a:bodyPr/>
        <a:lstStyle/>
        <a:p>
          <a:endParaRPr lang="en-US"/>
        </a:p>
      </dgm:t>
    </dgm:pt>
    <dgm:pt modelId="{07E3B97E-97BF-4770-890A-C83CB49BC177}" type="sibTrans" cxnId="{E7E5F306-060D-4431-BDA2-8208911A4F5A}">
      <dgm:prSet/>
      <dgm:spPr/>
      <dgm:t>
        <a:bodyPr/>
        <a:lstStyle/>
        <a:p>
          <a:endParaRPr lang="en-US"/>
        </a:p>
      </dgm:t>
    </dgm:pt>
    <dgm:pt modelId="{C215A1AF-DADD-49FF-AE40-93B2A77B2B92}">
      <dgm:prSet phldrT="[Text]"/>
      <dgm:spPr/>
      <dgm:t>
        <a:bodyPr/>
        <a:lstStyle/>
        <a:p>
          <a:r>
            <a:rPr lang="en-US" dirty="0" err="1" smtClean="0"/>
            <a:t>K</a:t>
          </a:r>
          <a:r>
            <a:rPr lang="en-US" baseline="-25000" dirty="0" err="1" smtClean="0"/>
            <a:t>sp</a:t>
          </a:r>
          <a:endParaRPr lang="en-US" baseline="-25000" dirty="0"/>
        </a:p>
      </dgm:t>
    </dgm:pt>
    <dgm:pt modelId="{40A1F92C-2CF3-480E-8DAC-2C301EC34165}" type="parTrans" cxnId="{031B024F-8898-4BC4-AECC-32D00279F361}">
      <dgm:prSet/>
      <dgm:spPr/>
      <dgm:t>
        <a:bodyPr/>
        <a:lstStyle/>
        <a:p>
          <a:endParaRPr lang="en-US"/>
        </a:p>
      </dgm:t>
    </dgm:pt>
    <dgm:pt modelId="{13EA1E72-F4B9-4DF5-A2AD-44F912184568}" type="sibTrans" cxnId="{031B024F-8898-4BC4-AECC-32D00279F361}">
      <dgm:prSet/>
      <dgm:spPr/>
      <dgm:t>
        <a:bodyPr/>
        <a:lstStyle/>
        <a:p>
          <a:endParaRPr lang="en-US"/>
        </a:p>
      </dgm:t>
    </dgm:pt>
    <dgm:pt modelId="{B6AAC65A-3E50-481B-9117-A92C71F2632D}">
      <dgm:prSet phldrT="[Text]"/>
      <dgm:spPr/>
      <dgm:t>
        <a:bodyPr/>
        <a:lstStyle/>
        <a:p>
          <a:r>
            <a:rPr lang="en-US" dirty="0" smtClean="0"/>
            <a:t>K</a:t>
          </a:r>
          <a:r>
            <a:rPr lang="en-US" baseline="-25000" dirty="0" smtClean="0"/>
            <a:t>a</a:t>
          </a:r>
          <a:r>
            <a:rPr lang="en-US" dirty="0" smtClean="0"/>
            <a:t>/K</a:t>
          </a:r>
          <a:r>
            <a:rPr lang="en-US" baseline="-25000" dirty="0" smtClean="0"/>
            <a:t>b</a:t>
          </a:r>
          <a:endParaRPr lang="en-US" baseline="-25000" dirty="0"/>
        </a:p>
      </dgm:t>
    </dgm:pt>
    <dgm:pt modelId="{BE508013-015C-418C-B4BE-F19848C7F60D}" type="parTrans" cxnId="{EB18B904-FEAD-4ECB-B86D-826736D6844E}">
      <dgm:prSet/>
      <dgm:spPr/>
      <dgm:t>
        <a:bodyPr/>
        <a:lstStyle/>
        <a:p>
          <a:endParaRPr lang="en-US"/>
        </a:p>
      </dgm:t>
    </dgm:pt>
    <dgm:pt modelId="{35F7ED9C-387F-4CCA-9684-F181308B6020}" type="sibTrans" cxnId="{EB18B904-FEAD-4ECB-B86D-826736D6844E}">
      <dgm:prSet/>
      <dgm:spPr/>
      <dgm:t>
        <a:bodyPr/>
        <a:lstStyle/>
        <a:p>
          <a:endParaRPr lang="en-US"/>
        </a:p>
      </dgm:t>
    </dgm:pt>
    <dgm:pt modelId="{6F7724A1-B4D7-4312-A6B7-0CD9B48599F1}">
      <dgm:prSet phldrT="[Text]"/>
      <dgm:spPr/>
      <dgm:t>
        <a:bodyPr/>
        <a:lstStyle/>
        <a:p>
          <a:r>
            <a:rPr lang="en-US" dirty="0" err="1" smtClean="0"/>
            <a:t>K</a:t>
          </a:r>
          <a:r>
            <a:rPr lang="en-US" baseline="-25000" dirty="0" err="1" smtClean="0"/>
            <a:t>w</a:t>
          </a:r>
          <a:endParaRPr lang="en-US" baseline="-25000" dirty="0"/>
        </a:p>
      </dgm:t>
    </dgm:pt>
    <dgm:pt modelId="{0072EB65-3091-44E0-967E-20A72DF49D18}" type="parTrans" cxnId="{A0A2CD86-E59A-4E87-9654-ACA3883308D5}">
      <dgm:prSet/>
      <dgm:spPr/>
      <dgm:t>
        <a:bodyPr/>
        <a:lstStyle/>
        <a:p>
          <a:endParaRPr lang="en-US"/>
        </a:p>
      </dgm:t>
    </dgm:pt>
    <dgm:pt modelId="{0E9F1A64-B098-43CE-9051-444344638CC0}" type="sibTrans" cxnId="{A0A2CD86-E59A-4E87-9654-ACA3883308D5}">
      <dgm:prSet/>
      <dgm:spPr/>
      <dgm:t>
        <a:bodyPr/>
        <a:lstStyle/>
        <a:p>
          <a:endParaRPr lang="en-US"/>
        </a:p>
      </dgm:t>
    </dgm:pt>
    <dgm:pt modelId="{57ADF7B8-57C2-4592-9AA2-722F02E1FC2A}" type="pres">
      <dgm:prSet presAssocID="{E4951658-7292-4238-8EDE-86B89998CB3A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E82C44B-01FF-4ECA-9FC2-7C4C57199338}" type="pres">
      <dgm:prSet presAssocID="{E4951658-7292-4238-8EDE-86B89998CB3A}" presName="radial" presStyleCnt="0">
        <dgm:presLayoutVars>
          <dgm:animLvl val="ctr"/>
        </dgm:presLayoutVars>
      </dgm:prSet>
      <dgm:spPr/>
    </dgm:pt>
    <dgm:pt modelId="{69594381-B11F-41A8-A495-8CE2433D167A}" type="pres">
      <dgm:prSet presAssocID="{D0DCD841-8EAC-423A-B553-31D0A2ABDBBA}" presName="centerShape" presStyleLbl="vennNode1" presStyleIdx="0" presStyleCnt="6"/>
      <dgm:spPr/>
      <dgm:t>
        <a:bodyPr/>
        <a:lstStyle/>
        <a:p>
          <a:endParaRPr lang="en-US"/>
        </a:p>
      </dgm:t>
    </dgm:pt>
    <dgm:pt modelId="{1E8EE90B-9B03-45CD-9358-9C7779698F74}" type="pres">
      <dgm:prSet presAssocID="{A195E1E9-2E17-4F1A-8B03-0ECD8E19C94A}" presName="node" presStyleLbl="venn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209FF5-C5E1-43EB-91C3-E5861E1FBB6F}" type="pres">
      <dgm:prSet presAssocID="{1C3EADB7-041E-44CF-A357-28DBFE1D6024}" presName="node" presStyleLbl="venn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21E9BB-62E6-4115-AF6F-5162514B5FD8}" type="pres">
      <dgm:prSet presAssocID="{C215A1AF-DADD-49FF-AE40-93B2A77B2B92}" presName="node" presStyleLbl="venn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30F67F-CD8D-492E-856E-F56551DD449B}" type="pres">
      <dgm:prSet presAssocID="{B6AAC65A-3E50-481B-9117-A92C71F2632D}" presName="node" presStyleLbl="venn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FA07C7-AC1B-4A29-932A-304F242F5ED0}" type="pres">
      <dgm:prSet presAssocID="{6F7724A1-B4D7-4312-A6B7-0CD9B48599F1}" presName="node" presStyleLbl="venn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AB6291E-BA5B-44ED-AE0F-263CB8AD0FBD}" type="presOf" srcId="{B6AAC65A-3E50-481B-9117-A92C71F2632D}" destId="{FE30F67F-CD8D-492E-856E-F56551DD449B}" srcOrd="0" destOrd="0" presId="urn:microsoft.com/office/officeart/2005/8/layout/radial3"/>
    <dgm:cxn modelId="{BA25E57B-1877-4D85-9FE9-192F5A46A09C}" srcId="{D0DCD841-8EAC-423A-B553-31D0A2ABDBBA}" destId="{A195E1E9-2E17-4F1A-8B03-0ECD8E19C94A}" srcOrd="0" destOrd="0" parTransId="{9DEE281E-955D-470A-BB16-05D941FD1B64}" sibTransId="{25109F7E-2EE6-4B53-9577-A9E9FDA2F248}"/>
    <dgm:cxn modelId="{20717C02-F688-44BD-ADA3-161A9AE40403}" type="presOf" srcId="{A195E1E9-2E17-4F1A-8B03-0ECD8E19C94A}" destId="{1E8EE90B-9B03-45CD-9358-9C7779698F74}" srcOrd="0" destOrd="0" presId="urn:microsoft.com/office/officeart/2005/8/layout/radial3"/>
    <dgm:cxn modelId="{2B37DC80-D656-4B3D-BC43-D8FD11DE5368}" type="presOf" srcId="{1C3EADB7-041E-44CF-A357-28DBFE1D6024}" destId="{1C209FF5-C5E1-43EB-91C3-E5861E1FBB6F}" srcOrd="0" destOrd="0" presId="urn:microsoft.com/office/officeart/2005/8/layout/radial3"/>
    <dgm:cxn modelId="{843F68A3-F841-4326-A8D4-34AFA119E83D}" type="presOf" srcId="{E4951658-7292-4238-8EDE-86B89998CB3A}" destId="{57ADF7B8-57C2-4592-9AA2-722F02E1FC2A}" srcOrd="0" destOrd="0" presId="urn:microsoft.com/office/officeart/2005/8/layout/radial3"/>
    <dgm:cxn modelId="{639FFBE9-97C9-4932-9DC8-B2D723A823FC}" type="presOf" srcId="{D0DCD841-8EAC-423A-B553-31D0A2ABDBBA}" destId="{69594381-B11F-41A8-A495-8CE2433D167A}" srcOrd="0" destOrd="0" presId="urn:microsoft.com/office/officeart/2005/8/layout/radial3"/>
    <dgm:cxn modelId="{0B829B36-43D9-42B7-853D-CA7E1ACBDD5B}" type="presOf" srcId="{6F7724A1-B4D7-4312-A6B7-0CD9B48599F1}" destId="{FDFA07C7-AC1B-4A29-932A-304F242F5ED0}" srcOrd="0" destOrd="0" presId="urn:microsoft.com/office/officeart/2005/8/layout/radial3"/>
    <dgm:cxn modelId="{EB18B904-FEAD-4ECB-B86D-826736D6844E}" srcId="{D0DCD841-8EAC-423A-B553-31D0A2ABDBBA}" destId="{B6AAC65A-3E50-481B-9117-A92C71F2632D}" srcOrd="3" destOrd="0" parTransId="{BE508013-015C-418C-B4BE-F19848C7F60D}" sibTransId="{35F7ED9C-387F-4CCA-9684-F181308B6020}"/>
    <dgm:cxn modelId="{E7E5F306-060D-4431-BDA2-8208911A4F5A}" srcId="{D0DCD841-8EAC-423A-B553-31D0A2ABDBBA}" destId="{1C3EADB7-041E-44CF-A357-28DBFE1D6024}" srcOrd="1" destOrd="0" parTransId="{DF00E2A2-0963-4DA2-89BB-0ACEE8DE1EE2}" sibTransId="{07E3B97E-97BF-4770-890A-C83CB49BC177}"/>
    <dgm:cxn modelId="{A0A2CD86-E59A-4E87-9654-ACA3883308D5}" srcId="{D0DCD841-8EAC-423A-B553-31D0A2ABDBBA}" destId="{6F7724A1-B4D7-4312-A6B7-0CD9B48599F1}" srcOrd="4" destOrd="0" parTransId="{0072EB65-3091-44E0-967E-20A72DF49D18}" sibTransId="{0E9F1A64-B098-43CE-9051-444344638CC0}"/>
    <dgm:cxn modelId="{031B024F-8898-4BC4-AECC-32D00279F361}" srcId="{D0DCD841-8EAC-423A-B553-31D0A2ABDBBA}" destId="{C215A1AF-DADD-49FF-AE40-93B2A77B2B92}" srcOrd="2" destOrd="0" parTransId="{40A1F92C-2CF3-480E-8DAC-2C301EC34165}" sibTransId="{13EA1E72-F4B9-4DF5-A2AD-44F912184568}"/>
    <dgm:cxn modelId="{36805ADF-B596-4EF5-AC31-D2737432FBA0}" srcId="{E4951658-7292-4238-8EDE-86B89998CB3A}" destId="{D0DCD841-8EAC-423A-B553-31D0A2ABDBBA}" srcOrd="0" destOrd="0" parTransId="{39C5F35E-F364-4A7D-BD1D-A98DA29B90AA}" sibTransId="{9D298C6C-F5B0-4EF8-A96F-A9152472EAF3}"/>
    <dgm:cxn modelId="{4FE009D8-E33D-43DA-B6FE-D215796704D9}" type="presOf" srcId="{C215A1AF-DADD-49FF-AE40-93B2A77B2B92}" destId="{1621E9BB-62E6-4115-AF6F-5162514B5FD8}" srcOrd="0" destOrd="0" presId="urn:microsoft.com/office/officeart/2005/8/layout/radial3"/>
    <dgm:cxn modelId="{6D387C34-8554-424A-856D-DC0DF08B964E}" type="presParOf" srcId="{57ADF7B8-57C2-4592-9AA2-722F02E1FC2A}" destId="{9E82C44B-01FF-4ECA-9FC2-7C4C57199338}" srcOrd="0" destOrd="0" presId="urn:microsoft.com/office/officeart/2005/8/layout/radial3"/>
    <dgm:cxn modelId="{12021566-9B14-4436-B06D-8DB4A25351B6}" type="presParOf" srcId="{9E82C44B-01FF-4ECA-9FC2-7C4C57199338}" destId="{69594381-B11F-41A8-A495-8CE2433D167A}" srcOrd="0" destOrd="0" presId="urn:microsoft.com/office/officeart/2005/8/layout/radial3"/>
    <dgm:cxn modelId="{63B4A649-B9D8-41DE-9E3F-43E040DC10E5}" type="presParOf" srcId="{9E82C44B-01FF-4ECA-9FC2-7C4C57199338}" destId="{1E8EE90B-9B03-45CD-9358-9C7779698F74}" srcOrd="1" destOrd="0" presId="urn:microsoft.com/office/officeart/2005/8/layout/radial3"/>
    <dgm:cxn modelId="{24D1D069-E996-4DDE-AE4B-871E3F301EFA}" type="presParOf" srcId="{9E82C44B-01FF-4ECA-9FC2-7C4C57199338}" destId="{1C209FF5-C5E1-43EB-91C3-E5861E1FBB6F}" srcOrd="2" destOrd="0" presId="urn:microsoft.com/office/officeart/2005/8/layout/radial3"/>
    <dgm:cxn modelId="{3B62B3E7-D6BC-41C1-8DC9-906A6FEB031A}" type="presParOf" srcId="{9E82C44B-01FF-4ECA-9FC2-7C4C57199338}" destId="{1621E9BB-62E6-4115-AF6F-5162514B5FD8}" srcOrd="3" destOrd="0" presId="urn:microsoft.com/office/officeart/2005/8/layout/radial3"/>
    <dgm:cxn modelId="{9ACC0000-515C-45E0-A8ED-1C74FB75AABA}" type="presParOf" srcId="{9E82C44B-01FF-4ECA-9FC2-7C4C57199338}" destId="{FE30F67F-CD8D-492E-856E-F56551DD449B}" srcOrd="4" destOrd="0" presId="urn:microsoft.com/office/officeart/2005/8/layout/radial3"/>
    <dgm:cxn modelId="{9E09FAA3-13AC-42D9-AFC9-55F884835766}" type="presParOf" srcId="{9E82C44B-01FF-4ECA-9FC2-7C4C57199338}" destId="{FDFA07C7-AC1B-4A29-932A-304F242F5ED0}" srcOrd="5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9594381-B11F-41A8-A495-8CE2433D167A}">
      <dsp:nvSpPr>
        <dsp:cNvPr id="0" name=""/>
        <dsp:cNvSpPr/>
      </dsp:nvSpPr>
      <dsp:spPr>
        <a:xfrm>
          <a:off x="2606464" y="1342454"/>
          <a:ext cx="3111921" cy="311192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The Many Types of Equilibrium Constants, </a:t>
          </a:r>
          <a:r>
            <a:rPr lang="en-US" sz="3200" kern="1200" dirty="0" err="1" smtClean="0"/>
            <a:t>K</a:t>
          </a:r>
          <a:r>
            <a:rPr lang="en-US" sz="3200" kern="1200" baseline="-25000" dirty="0" err="1" smtClean="0"/>
            <a:t>eq</a:t>
          </a:r>
          <a:endParaRPr lang="en-US" sz="3200" kern="1200" baseline="-25000" dirty="0"/>
        </a:p>
      </dsp:txBody>
      <dsp:txXfrm>
        <a:off x="2606464" y="1342454"/>
        <a:ext cx="3111921" cy="3111921"/>
      </dsp:txXfrm>
    </dsp:sp>
    <dsp:sp modelId="{1E8EE90B-9B03-45CD-9358-9C7779698F74}">
      <dsp:nvSpPr>
        <dsp:cNvPr id="0" name=""/>
        <dsp:cNvSpPr/>
      </dsp:nvSpPr>
      <dsp:spPr>
        <a:xfrm>
          <a:off x="3384444" y="96010"/>
          <a:ext cx="1555960" cy="1555960"/>
        </a:xfrm>
        <a:prstGeom prst="ellipse">
          <a:avLst/>
        </a:prstGeom>
        <a:solidFill>
          <a:schemeClr val="accent2">
            <a:alpha val="50000"/>
            <a:hueOff val="936304"/>
            <a:satOff val="-1168"/>
            <a:lumOff val="27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err="1" smtClean="0"/>
            <a:t>K</a:t>
          </a:r>
          <a:r>
            <a:rPr lang="en-US" sz="3200" kern="1200" baseline="-25000" dirty="0" err="1" smtClean="0"/>
            <a:t>c</a:t>
          </a:r>
          <a:endParaRPr lang="en-US" sz="3200" kern="1200" baseline="-25000" dirty="0"/>
        </a:p>
      </dsp:txBody>
      <dsp:txXfrm>
        <a:off x="3384444" y="96010"/>
        <a:ext cx="1555960" cy="1555960"/>
      </dsp:txXfrm>
    </dsp:sp>
    <dsp:sp modelId="{1C209FF5-C5E1-43EB-91C3-E5861E1FBB6F}">
      <dsp:nvSpPr>
        <dsp:cNvPr id="0" name=""/>
        <dsp:cNvSpPr/>
      </dsp:nvSpPr>
      <dsp:spPr>
        <a:xfrm>
          <a:off x="5309786" y="1494853"/>
          <a:ext cx="1555960" cy="1555960"/>
        </a:xfrm>
        <a:prstGeom prst="ellipse">
          <a:avLst/>
        </a:prstGeom>
        <a:solidFill>
          <a:schemeClr val="accent2">
            <a:alpha val="50000"/>
            <a:hueOff val="1872608"/>
            <a:satOff val="-2336"/>
            <a:lumOff val="549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err="1" smtClean="0"/>
            <a:t>K</a:t>
          </a:r>
          <a:r>
            <a:rPr lang="en-US" sz="3200" kern="1200" baseline="-25000" dirty="0" err="1" smtClean="0"/>
            <a:t>p</a:t>
          </a:r>
          <a:endParaRPr lang="en-US" sz="3200" kern="1200" baseline="-25000" dirty="0"/>
        </a:p>
      </dsp:txBody>
      <dsp:txXfrm>
        <a:off x="5309786" y="1494853"/>
        <a:ext cx="1555960" cy="1555960"/>
      </dsp:txXfrm>
    </dsp:sp>
    <dsp:sp modelId="{1621E9BB-62E6-4115-AF6F-5162514B5FD8}">
      <dsp:nvSpPr>
        <dsp:cNvPr id="0" name=""/>
        <dsp:cNvSpPr/>
      </dsp:nvSpPr>
      <dsp:spPr>
        <a:xfrm>
          <a:off x="4574371" y="3758228"/>
          <a:ext cx="1555960" cy="1555960"/>
        </a:xfrm>
        <a:prstGeom prst="ellipse">
          <a:avLst/>
        </a:prstGeom>
        <a:solidFill>
          <a:schemeClr val="accent2">
            <a:alpha val="50000"/>
            <a:hueOff val="2808911"/>
            <a:satOff val="-3503"/>
            <a:lumOff val="824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err="1" smtClean="0"/>
            <a:t>K</a:t>
          </a:r>
          <a:r>
            <a:rPr lang="en-US" sz="3200" kern="1200" baseline="-25000" dirty="0" err="1" smtClean="0"/>
            <a:t>sp</a:t>
          </a:r>
          <a:endParaRPr lang="en-US" sz="3200" kern="1200" baseline="-25000" dirty="0"/>
        </a:p>
      </dsp:txBody>
      <dsp:txXfrm>
        <a:off x="4574371" y="3758228"/>
        <a:ext cx="1555960" cy="1555960"/>
      </dsp:txXfrm>
    </dsp:sp>
    <dsp:sp modelId="{FE30F67F-CD8D-492E-856E-F56551DD449B}">
      <dsp:nvSpPr>
        <dsp:cNvPr id="0" name=""/>
        <dsp:cNvSpPr/>
      </dsp:nvSpPr>
      <dsp:spPr>
        <a:xfrm>
          <a:off x="2194517" y="3758228"/>
          <a:ext cx="1555960" cy="1555960"/>
        </a:xfrm>
        <a:prstGeom prst="ellipse">
          <a:avLst/>
        </a:prstGeom>
        <a:solidFill>
          <a:schemeClr val="accent2">
            <a:alpha val="50000"/>
            <a:hueOff val="3745215"/>
            <a:satOff val="-4671"/>
            <a:lumOff val="109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K</a:t>
          </a:r>
          <a:r>
            <a:rPr lang="en-US" sz="3200" kern="1200" baseline="-25000" dirty="0" smtClean="0"/>
            <a:t>a</a:t>
          </a:r>
          <a:r>
            <a:rPr lang="en-US" sz="3200" kern="1200" dirty="0" smtClean="0"/>
            <a:t>/K</a:t>
          </a:r>
          <a:r>
            <a:rPr lang="en-US" sz="3200" kern="1200" baseline="-25000" dirty="0" smtClean="0"/>
            <a:t>b</a:t>
          </a:r>
          <a:endParaRPr lang="en-US" sz="3200" kern="1200" baseline="-25000" dirty="0"/>
        </a:p>
      </dsp:txBody>
      <dsp:txXfrm>
        <a:off x="2194517" y="3758228"/>
        <a:ext cx="1555960" cy="1555960"/>
      </dsp:txXfrm>
    </dsp:sp>
    <dsp:sp modelId="{FDFA07C7-AC1B-4A29-932A-304F242F5ED0}">
      <dsp:nvSpPr>
        <dsp:cNvPr id="0" name=""/>
        <dsp:cNvSpPr/>
      </dsp:nvSpPr>
      <dsp:spPr>
        <a:xfrm>
          <a:off x="1459102" y="1494853"/>
          <a:ext cx="1555960" cy="1555960"/>
        </a:xfrm>
        <a:prstGeom prst="ellipse">
          <a:avLst/>
        </a:prstGeom>
        <a:solidFill>
          <a:schemeClr val="accent2">
            <a:alpha val="50000"/>
            <a:hueOff val="4681519"/>
            <a:satOff val="-5839"/>
            <a:lumOff val="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err="1" smtClean="0"/>
            <a:t>K</a:t>
          </a:r>
          <a:r>
            <a:rPr lang="en-US" sz="3200" kern="1200" baseline="-25000" dirty="0" err="1" smtClean="0"/>
            <a:t>w</a:t>
          </a:r>
          <a:endParaRPr lang="en-US" sz="3200" kern="1200" baseline="-25000" dirty="0"/>
        </a:p>
      </dsp:txBody>
      <dsp:txXfrm>
        <a:off x="1459102" y="1494853"/>
        <a:ext cx="1555960" cy="1555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8800" y="304800"/>
            <a:ext cx="4267200" cy="940230"/>
          </a:xfrm>
          <a:prstGeom prst="rect">
            <a:avLst/>
          </a:prstGeom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57200" y="1283591"/>
            <a:ext cx="8458200" cy="19364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marL="228600" indent="-228600">
              <a:lnSpc>
                <a:spcPct val="150000"/>
              </a:lnSpc>
              <a:buClr>
                <a:srgbClr val="FFCC00"/>
              </a:buClr>
              <a:buFontTx/>
              <a:buChar char="•"/>
              <a:tabLst>
                <a:tab pos="914400" algn="l"/>
                <a:tab pos="1828800" algn="l"/>
                <a:tab pos="2743200" algn="l"/>
                <a:tab pos="3768725" algn="l"/>
                <a:tab pos="4572000" algn="l"/>
                <a:tab pos="5659438" algn="l"/>
              </a:tabLst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Chemical equilibrium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is a state of balance in which the</a:t>
            </a:r>
          </a:p>
          <a:p>
            <a:pPr marL="228600" indent="-228600">
              <a:lnSpc>
                <a:spcPct val="150000"/>
              </a:lnSpc>
              <a:buClr>
                <a:srgbClr val="FFCC00"/>
              </a:buClr>
              <a:tabLst>
                <a:tab pos="914400" algn="l"/>
                <a:tab pos="1828800" algn="l"/>
                <a:tab pos="2743200" algn="l"/>
                <a:tab pos="3768725" algn="l"/>
                <a:tab pos="4572000" algn="l"/>
                <a:tab pos="5659438" algn="l"/>
              </a:tabLst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rate of a forward reaction equals the rate of the reverse</a:t>
            </a:r>
          </a:p>
          <a:p>
            <a:pPr marL="228600" indent="-228600">
              <a:lnSpc>
                <a:spcPct val="150000"/>
              </a:lnSpc>
              <a:buClr>
                <a:srgbClr val="FFCC00"/>
              </a:buClr>
              <a:tabLst>
                <a:tab pos="914400" algn="l"/>
                <a:tab pos="1828800" algn="l"/>
                <a:tab pos="2743200" algn="l"/>
                <a:tab pos="3768725" algn="l"/>
                <a:tab pos="4572000" algn="l"/>
                <a:tab pos="5659438" algn="l"/>
              </a:tabLst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reaction and the concentrations of products and reactants </a:t>
            </a:r>
          </a:p>
          <a:p>
            <a:pPr marL="228600" indent="-228600">
              <a:lnSpc>
                <a:spcPct val="150000"/>
              </a:lnSpc>
              <a:buClr>
                <a:srgbClr val="FFCC00"/>
              </a:buClr>
              <a:tabLst>
                <a:tab pos="914400" algn="l"/>
                <a:tab pos="1828800" algn="l"/>
                <a:tab pos="2743200" algn="l"/>
                <a:tab pos="3768725" algn="l"/>
                <a:tab pos="4572000" algn="l"/>
                <a:tab pos="5659438" algn="l"/>
              </a:tabLst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remain unchanged.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3917743"/>
            <a:ext cx="8229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Clr>
                <a:srgbClr val="FFCC00"/>
              </a:buClr>
              <a:buFontTx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Only a very small fraction of the collisions between H</a:t>
            </a:r>
            <a:r>
              <a:rPr lang="en-US" sz="20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and I</a:t>
            </a:r>
            <a:r>
              <a:rPr lang="en-US" sz="20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result in the formation of HI.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5257800"/>
            <a:ext cx="838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Clr>
                <a:srgbClr val="FFCC00"/>
              </a:buClr>
              <a:buFontTx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As more HI molecules are made, they collide more often and form H</a:t>
            </a:r>
            <a:r>
              <a:rPr lang="en-US" sz="20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and I</a:t>
            </a:r>
            <a:r>
              <a:rPr lang="en-US" sz="20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by the reverse reaction.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19200" y="3158048"/>
            <a:ext cx="464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H</a:t>
            </a:r>
            <a:r>
              <a:rPr lang="en-US" sz="4800" baseline="-25000" dirty="0" smtClean="0"/>
              <a:t>2</a:t>
            </a:r>
            <a:r>
              <a:rPr lang="en-US" sz="4800" dirty="0" smtClean="0"/>
              <a:t>+I</a:t>
            </a:r>
            <a:r>
              <a:rPr lang="en-US" sz="4800" baseline="-25000" dirty="0" smtClean="0"/>
              <a:t>2</a:t>
            </a:r>
            <a:r>
              <a:rPr lang="en-US" sz="4800" dirty="0" smtClean="0"/>
              <a:t>         2HI</a:t>
            </a:r>
            <a:endParaRPr lang="en-US" sz="4800" dirty="0"/>
          </a:p>
        </p:txBody>
      </p:sp>
      <p:sp>
        <p:nvSpPr>
          <p:cNvPr id="4" name="Right Arrow 3"/>
          <p:cNvSpPr/>
          <p:nvPr/>
        </p:nvSpPr>
        <p:spPr>
          <a:xfrm>
            <a:off x="2895600" y="3522228"/>
            <a:ext cx="9144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/>
          <p:cNvSpPr/>
          <p:nvPr/>
        </p:nvSpPr>
        <p:spPr>
          <a:xfrm>
            <a:off x="2895600" y="3657600"/>
            <a:ext cx="914400" cy="4571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7181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39146" y="1083220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chemical equilibrium </a:t>
            </a:r>
            <a:r>
              <a:rPr lang="en-US" dirty="0" smtClean="0"/>
              <a:t>the state</a:t>
            </a:r>
            <a:r>
              <a:rPr lang="tr-TR" dirty="0" smtClean="0"/>
              <a:t> </a:t>
            </a:r>
            <a:r>
              <a:rPr lang="en-US" dirty="0" smtClean="0"/>
              <a:t>of a reaction in which all reactants</a:t>
            </a:r>
            <a:r>
              <a:rPr lang="tr-TR" dirty="0" smtClean="0"/>
              <a:t> </a:t>
            </a:r>
            <a:r>
              <a:rPr lang="en-US" dirty="0" smtClean="0"/>
              <a:t>and products have reached constant</a:t>
            </a:r>
            <a:r>
              <a:rPr lang="tr-TR" dirty="0" smtClean="0"/>
              <a:t> </a:t>
            </a:r>
            <a:r>
              <a:rPr lang="en-US" dirty="0" smtClean="0"/>
              <a:t>concentrations in a closed system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54697" y="2362200"/>
            <a:ext cx="6934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dynamic equilibrium </a:t>
            </a:r>
            <a:r>
              <a:rPr lang="en-US" dirty="0" smtClean="0"/>
              <a:t>a balance between</a:t>
            </a:r>
            <a:r>
              <a:rPr lang="tr-TR" dirty="0" smtClean="0"/>
              <a:t> </a:t>
            </a:r>
            <a:r>
              <a:rPr lang="en-US" dirty="0" smtClean="0"/>
              <a:t>forward and reverse processes that are</a:t>
            </a:r>
            <a:r>
              <a:rPr lang="tr-TR" dirty="0" smtClean="0"/>
              <a:t> </a:t>
            </a:r>
            <a:r>
              <a:rPr lang="en-US" dirty="0" smtClean="0"/>
              <a:t>occurring simultaneously at equal rates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1824" y="3608836"/>
            <a:ext cx="731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equilibrium position </a:t>
            </a:r>
            <a:r>
              <a:rPr lang="en-US" dirty="0" smtClean="0"/>
              <a:t>the relative</a:t>
            </a:r>
            <a:r>
              <a:rPr lang="tr-TR" dirty="0" smtClean="0"/>
              <a:t> </a:t>
            </a:r>
            <a:r>
              <a:rPr lang="en-US" dirty="0" smtClean="0"/>
              <a:t>concentrations of reactants and products</a:t>
            </a:r>
          </a:p>
          <a:p>
            <a:r>
              <a:rPr lang="en-US" dirty="0" smtClean="0"/>
              <a:t>in a system in dynamic equilibrium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8261" y="4704979"/>
            <a:ext cx="7696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reversible reaction </a:t>
            </a:r>
            <a:r>
              <a:rPr lang="en-US" dirty="0" smtClean="0"/>
              <a:t>a chemical reaction</a:t>
            </a:r>
            <a:r>
              <a:rPr lang="tr-TR" dirty="0" smtClean="0"/>
              <a:t> </a:t>
            </a:r>
            <a:r>
              <a:rPr lang="en-US" dirty="0" smtClean="0"/>
              <a:t>that proceeds in both the forward and reverse</a:t>
            </a:r>
            <a:r>
              <a:rPr lang="tr-TR" dirty="0" smtClean="0"/>
              <a:t> </a:t>
            </a:r>
            <a:r>
              <a:rPr lang="en-US" dirty="0" smtClean="0"/>
              <a:t>directions, setting up an equilibrium in a</a:t>
            </a:r>
            <a:r>
              <a:rPr lang="tr-TR" dirty="0" smtClean="0"/>
              <a:t> </a:t>
            </a:r>
            <a:r>
              <a:rPr lang="en-US" dirty="0" smtClean="0"/>
              <a:t>closed system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2906" y="5791200"/>
            <a:ext cx="38766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5583" y="282361"/>
            <a:ext cx="4743000" cy="5030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1066800"/>
            <a:ext cx="8644501" cy="30849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200" y="304800"/>
            <a:ext cx="3276600" cy="594972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4151761"/>
            <a:ext cx="5410200" cy="2464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95118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" y="1900238"/>
            <a:ext cx="794385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28600"/>
            <a:ext cx="47720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219200"/>
            <a:ext cx="7629525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5000" y="762000"/>
            <a:ext cx="234315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3276600"/>
            <a:ext cx="7620000" cy="333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81000"/>
            <a:ext cx="57150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990600"/>
            <a:ext cx="285750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1676400"/>
            <a:ext cx="771525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81000"/>
            <a:ext cx="74390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914400"/>
            <a:ext cx="78867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600" y="3200400"/>
            <a:ext cx="525780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990600"/>
            <a:ext cx="74676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457200"/>
            <a:ext cx="19526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04800"/>
            <a:ext cx="6124575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381000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95400"/>
            <a:ext cx="8001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04800"/>
            <a:ext cx="70104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09600" y="1524000"/>
            <a:ext cx="7772400" cy="1470025"/>
          </a:xfrm>
        </p:spPr>
        <p:txBody>
          <a:bodyPr>
            <a:normAutofit/>
          </a:bodyPr>
          <a:lstStyle/>
          <a:p>
            <a:r>
              <a:rPr lang="tr-TR" sz="1800" dirty="0" smtClean="0">
                <a:latin typeface="Times New Roman" pitchFamily="18" charset="0"/>
                <a:cs typeface="Times New Roman" pitchFamily="18" charset="0"/>
              </a:rPr>
              <a:t>Equilibrium law the mathematical description of a  chemical system at equilibrium</a:t>
            </a:r>
            <a:br>
              <a:rPr lang="tr-TR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tr-TR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tr-TR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tr-TR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tr-TR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tr-TR" sz="1800" dirty="0" smtClean="0">
                <a:latin typeface="Times New Roman" pitchFamily="18" charset="0"/>
                <a:cs typeface="Times New Roman" pitchFamily="18" charset="0"/>
              </a:rPr>
              <a:t>Equilibrium constant (K) a constant numerical value defining the equilibrium law for a given system: units are not included when giving the value of K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124200"/>
            <a:ext cx="4419600" cy="806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72862" y="4114800"/>
            <a:ext cx="395977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04800"/>
            <a:ext cx="33528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838200"/>
            <a:ext cx="418311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1371600"/>
            <a:ext cx="6629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66800" y="3886199"/>
            <a:ext cx="6096000" cy="2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04800"/>
            <a:ext cx="5295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295400"/>
            <a:ext cx="5791200" cy="1205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762000"/>
            <a:ext cx="13811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400" y="3048000"/>
            <a:ext cx="5638800" cy="241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14400" y="5486400"/>
            <a:ext cx="5638800" cy="638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4800" y="2743200"/>
            <a:ext cx="139065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28600"/>
            <a:ext cx="496062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762000"/>
            <a:ext cx="2971800" cy="671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799" y="1371600"/>
            <a:ext cx="3276601" cy="435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" y="1905000"/>
            <a:ext cx="4690241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5800" y="2438400"/>
            <a:ext cx="3276600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62000" y="3124200"/>
            <a:ext cx="526999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66800" y="3657600"/>
            <a:ext cx="3886200" cy="78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66800" y="4572000"/>
            <a:ext cx="1981200" cy="961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267200" y="4572000"/>
            <a:ext cx="2209800" cy="741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76961"/>
            <a:ext cx="3243560" cy="401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7104" y="4099145"/>
            <a:ext cx="3745216" cy="4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2899762"/>
            <a:ext cx="6400800" cy="1083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44880" y="4567297"/>
            <a:ext cx="3398290" cy="461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44880" y="5042348"/>
            <a:ext cx="292608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5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37104" y="5469360"/>
            <a:ext cx="495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533400" y="578108"/>
            <a:ext cx="7543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HelveticaNeueLTStd-BdCn"/>
              </a:rPr>
              <a:t>homogeneous equilibrium </a:t>
            </a:r>
            <a:r>
              <a:rPr lang="en-US" dirty="0">
                <a:latin typeface="HelveticaNeueLTStd-Cn"/>
              </a:rPr>
              <a:t>a </a:t>
            </a:r>
            <a:r>
              <a:rPr lang="en-US" dirty="0" smtClean="0">
                <a:latin typeface="HelveticaNeueLTStd-Cn"/>
              </a:rPr>
              <a:t>chemical equilibrium </a:t>
            </a:r>
            <a:r>
              <a:rPr lang="en-US" dirty="0">
                <a:latin typeface="HelveticaNeueLTStd-Cn"/>
              </a:rPr>
              <a:t>system in which all </a:t>
            </a:r>
            <a:r>
              <a:rPr lang="en-US" dirty="0" smtClean="0">
                <a:latin typeface="HelveticaNeueLTStd-Cn"/>
              </a:rPr>
              <a:t>reactants and </a:t>
            </a:r>
            <a:r>
              <a:rPr lang="en-US" dirty="0">
                <a:latin typeface="HelveticaNeueLTStd-Cn"/>
              </a:rPr>
              <a:t>products are in the same state </a:t>
            </a:r>
            <a:r>
              <a:rPr lang="en-US" dirty="0" smtClean="0">
                <a:latin typeface="HelveticaNeueLTStd-Cn"/>
              </a:rPr>
              <a:t>of matter</a:t>
            </a:r>
            <a:r>
              <a:rPr lang="en-US" dirty="0">
                <a:latin typeface="HelveticaNeueLTStd-Cn"/>
              </a:rPr>
              <a:t>, such as the gas state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660773"/>
            <a:ext cx="78781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HelveticaNeueLTStd-BdCn"/>
              </a:rPr>
              <a:t>heterogeneous equilibrium </a:t>
            </a:r>
            <a:r>
              <a:rPr lang="en-US" dirty="0">
                <a:latin typeface="HelveticaNeueLTStd-Cn"/>
              </a:rPr>
              <a:t>a </a:t>
            </a:r>
            <a:r>
              <a:rPr lang="en-US" dirty="0" smtClean="0">
                <a:latin typeface="HelveticaNeueLTStd-Cn"/>
              </a:rPr>
              <a:t>chemical equilibrium </a:t>
            </a:r>
            <a:r>
              <a:rPr lang="en-US" dirty="0">
                <a:latin typeface="HelveticaNeueLTStd-Cn"/>
              </a:rPr>
              <a:t>system in which the </a:t>
            </a:r>
            <a:r>
              <a:rPr lang="en-US" dirty="0" smtClean="0">
                <a:latin typeface="HelveticaNeueLTStd-Cn"/>
              </a:rPr>
              <a:t>reactants and </a:t>
            </a:r>
            <a:r>
              <a:rPr lang="en-US" dirty="0">
                <a:latin typeface="HelveticaNeueLTStd-Cn"/>
              </a:rPr>
              <a:t>products are present in at least </a:t>
            </a:r>
            <a:r>
              <a:rPr lang="en-US" dirty="0" smtClean="0">
                <a:latin typeface="HelveticaNeueLTStd-Cn"/>
              </a:rPr>
              <a:t>two different </a:t>
            </a:r>
            <a:r>
              <a:rPr lang="en-US" dirty="0">
                <a:latin typeface="HelveticaNeueLTStd-Cn"/>
              </a:rPr>
              <a:t>states, such as gases and solids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990600"/>
            <a:ext cx="400507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1094" y="1562100"/>
            <a:ext cx="3903306" cy="760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4395" y="2498728"/>
            <a:ext cx="3988877" cy="386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21094" y="3267075"/>
            <a:ext cx="3750906" cy="892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58416" y="4419599"/>
            <a:ext cx="3713584" cy="1103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57800" y="2286000"/>
            <a:ext cx="222885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8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85800" y="381000"/>
            <a:ext cx="518160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418" y="1371600"/>
            <a:ext cx="8522382" cy="3978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Equilibrium Constant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19150" y="990600"/>
          <a:ext cx="832485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57200"/>
            <a:ext cx="647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Qualitative Changes in Equilibrium Systems</a:t>
            </a:r>
            <a:endParaRPr lang="en-US" sz="24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52084" y="520547"/>
            <a:ext cx="1695450" cy="555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81000" y="1257991"/>
            <a:ext cx="807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Le </a:t>
            </a:r>
            <a:r>
              <a:rPr lang="en-US" b="1" dirty="0" err="1" smtClean="0"/>
              <a:t>Châtelier’s</a:t>
            </a:r>
            <a:r>
              <a:rPr lang="en-US" b="1" dirty="0" smtClean="0"/>
              <a:t> principle </a:t>
            </a:r>
            <a:r>
              <a:rPr lang="en-US" dirty="0" smtClean="0"/>
              <a:t>a generalization</a:t>
            </a:r>
            <a:r>
              <a:rPr lang="tr-TR" dirty="0" smtClean="0"/>
              <a:t> </a:t>
            </a:r>
            <a:r>
              <a:rPr lang="en-US" dirty="0" smtClean="0"/>
              <a:t>that states that chemical systems at</a:t>
            </a:r>
            <a:r>
              <a:rPr lang="tr-TR" dirty="0" smtClean="0"/>
              <a:t> </a:t>
            </a:r>
            <a:r>
              <a:rPr lang="en-US" dirty="0" smtClean="0"/>
              <a:t>equilibrium shift to restore equilibrium</a:t>
            </a:r>
            <a:r>
              <a:rPr lang="tr-TR" dirty="0" smtClean="0"/>
              <a:t> </a:t>
            </a:r>
            <a:r>
              <a:rPr lang="en-US" dirty="0" smtClean="0"/>
              <a:t>when a change occurs that disturbs the</a:t>
            </a:r>
            <a:r>
              <a:rPr lang="tr-TR" dirty="0" smtClean="0"/>
              <a:t> </a:t>
            </a:r>
            <a:r>
              <a:rPr lang="en-US" dirty="0" smtClean="0"/>
              <a:t>equilibrium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084" y="2281333"/>
            <a:ext cx="6477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When a chemical system at equilibrium is disturbed by a change in a</a:t>
            </a:r>
            <a:r>
              <a:rPr lang="tr-TR" dirty="0" smtClean="0"/>
              <a:t> </a:t>
            </a:r>
            <a:r>
              <a:rPr lang="en-US" dirty="0" smtClean="0"/>
              <a:t>property, the system adjusts in a way that opposes the change.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5084" y="3292257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/>
              <a:t>Le </a:t>
            </a:r>
            <a:r>
              <a:rPr lang="fr-FR" b="1" dirty="0" err="1" smtClean="0"/>
              <a:t>Châtelier’s</a:t>
            </a:r>
            <a:r>
              <a:rPr lang="fr-FR" b="1" dirty="0" smtClean="0"/>
              <a:t> </a:t>
            </a:r>
            <a:r>
              <a:rPr lang="fr-FR" b="1" dirty="0" err="1" smtClean="0"/>
              <a:t>Principle</a:t>
            </a:r>
            <a:r>
              <a:rPr lang="fr-FR" b="1" dirty="0" smtClean="0"/>
              <a:t> and Changes</a:t>
            </a:r>
            <a:r>
              <a:rPr lang="tr-TR" b="1" dirty="0" smtClean="0"/>
              <a:t> </a:t>
            </a:r>
            <a:r>
              <a:rPr lang="en-US" b="1" dirty="0" smtClean="0"/>
              <a:t>in Concentration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470419" y="4026182"/>
            <a:ext cx="685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equilibrium shift a change in</a:t>
            </a:r>
            <a:r>
              <a:rPr lang="tr-TR" dirty="0" smtClean="0"/>
              <a:t> </a:t>
            </a:r>
            <a:r>
              <a:rPr lang="en-US" dirty="0" smtClean="0"/>
              <a:t>concentrations of reactants and products</a:t>
            </a:r>
          </a:p>
          <a:p>
            <a:r>
              <a:rPr lang="en-US" dirty="0" smtClean="0"/>
              <a:t>in order to restore an equilibrium state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09600" y="304800"/>
            <a:ext cx="8534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Factors Affecting Equilibrium</a:t>
            </a:r>
          </a:p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    (Le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Chatelier’s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Principle)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5874" y="1192368"/>
            <a:ext cx="4346126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1. The Effect of Concentration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" y="1801968"/>
            <a:ext cx="8991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For the effect of concentration there are four cases: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	Following reaction is given below;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	N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(g)  +  3H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(g) 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  2NH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   at equilibrium at 25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  <a:sym typeface="Symbol"/>
              </a:rPr>
              <a:t>o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C.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lvl="1"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a. If some N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or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is added to reaction container, the system is disturbed and it will try to decrease this effect by moving forward, then the reaction will reestablish a new equilibrium. As a result of this, concentration of NH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will increase.</a:t>
            </a:r>
          </a:p>
          <a:p>
            <a:pPr lvl="1">
              <a:buClr>
                <a:srgbClr val="FFC000"/>
              </a:buClr>
            </a:pPr>
            <a:endParaRPr lang="en-US" sz="24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lvl="1"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b. If some NH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is added the reaction will try to minimize this effect by moving backward. As a result concentration of both N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and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will increase.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5874" y="1295400"/>
            <a:ext cx="4346126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1. The Effect of Concentration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76200" y="1905000"/>
            <a:ext cx="8991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	N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(g)  +  3H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(g) 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  2NH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   at equilibrium at 25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  <a:sym typeface="Symbol"/>
              </a:rPr>
              <a:t>o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C.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lvl="1"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c. If some N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or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is removed, decreasing concentration, from reaction container, the system is disturbed and it will try to decrease this effect by moving backward, then the reaction will reestablish a new equilibrium. As a result of this, concentration of NH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will decrease.</a:t>
            </a:r>
          </a:p>
          <a:p>
            <a:pPr lvl="1">
              <a:buClr>
                <a:srgbClr val="FFC000"/>
              </a:buClr>
            </a:pPr>
            <a:endParaRPr lang="en-US" sz="2400" dirty="0" smtClean="0">
              <a:latin typeface="Arial" pitchFamily="34" charset="0"/>
              <a:cs typeface="Arial" pitchFamily="34" charset="0"/>
              <a:sym typeface="Symbol"/>
            </a:endParaRPr>
          </a:p>
          <a:p>
            <a:pPr lvl="1"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d. If some NH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is removed from the reaction container the reaction will try to minimize this effect by moving forward. As a result concentration of both N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and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will decrease. 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28600" y="1143000"/>
            <a:ext cx="8915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The following reaction at equilibrium is given, at 25</a:t>
            </a:r>
            <a:r>
              <a:rPr lang="en-US" sz="2400" baseline="30000" dirty="0" smtClean="0">
                <a:latin typeface="Arial" pitchFamily="34" charset="0"/>
                <a:cs typeface="Arial" pitchFamily="34" charset="0"/>
              </a:rPr>
              <a:t>o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C.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	CO(g)  + 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O(g)   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   CO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+   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(g).		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Following changes are applied. Try to predict how the reaction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respond to the these effects.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Addition of CO gas,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Addition of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gas,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Removal of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O gas,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Removal of CO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gas.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53340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 smtClean="0"/>
              <a:t>Example</a:t>
            </a:r>
            <a:r>
              <a:rPr lang="tr-TR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52400" y="685800"/>
            <a:ext cx="883920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FFC000"/>
              </a:buClr>
            </a:pPr>
            <a:r>
              <a:rPr lang="en-US" sz="2400" i="1" dirty="0" smtClean="0">
                <a:latin typeface="Arial" pitchFamily="34" charset="0"/>
                <a:cs typeface="Arial" pitchFamily="34" charset="0"/>
              </a:rPr>
              <a:t>Solution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	CO(g)  + 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O(g)   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   CO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+   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(g).		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The reaction shifts forward, and concentration of CO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and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will increase and concentration of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O will decrease. 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The reaction shifts backward, and concentration of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O and CO will increase and concentration of CO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will decrease. 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The reaction shifts backward, and concentration of CO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and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will decrease and concentration of CO will increase. 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The reaction shifts forward, and concentration of CO and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O will decrease and concentration of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will increase.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533400"/>
            <a:ext cx="4038600" cy="661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219200"/>
            <a:ext cx="317182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43400" y="1143000"/>
            <a:ext cx="3286125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62000" y="4343400"/>
            <a:ext cx="7467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Figure 4 (a) At the dotted line, when</a:t>
            </a:r>
            <a:r>
              <a:rPr lang="tr-TR" dirty="0" smtClean="0"/>
              <a:t> </a:t>
            </a:r>
            <a:r>
              <a:rPr lang="en-US" dirty="0" smtClean="0"/>
              <a:t>the system was at equilibrium, more</a:t>
            </a:r>
          </a:p>
          <a:p>
            <a:r>
              <a:rPr lang="en-US" dirty="0" smtClean="0"/>
              <a:t>carbon dioxide gas (reactant) was added</a:t>
            </a:r>
            <a:r>
              <a:rPr lang="tr-TR" dirty="0" smtClean="0"/>
              <a:t> </a:t>
            </a:r>
            <a:r>
              <a:rPr lang="en-US" dirty="0" smtClean="0"/>
              <a:t>to the system. The equilibrium responded</a:t>
            </a:r>
            <a:r>
              <a:rPr lang="tr-TR" dirty="0" smtClean="0"/>
              <a:t> </a:t>
            </a:r>
            <a:r>
              <a:rPr lang="en-US" dirty="0" smtClean="0"/>
              <a:t>by shifting to the right (in the direction</a:t>
            </a:r>
            <a:r>
              <a:rPr lang="tr-TR" dirty="0" smtClean="0"/>
              <a:t> </a:t>
            </a:r>
            <a:r>
              <a:rPr lang="en-US" dirty="0" smtClean="0"/>
              <a:t>of products). The concentration of</a:t>
            </a:r>
            <a:r>
              <a:rPr lang="tr-TR" dirty="0" smtClean="0"/>
              <a:t> </a:t>
            </a:r>
            <a:r>
              <a:rPr lang="en-US" dirty="0" smtClean="0"/>
              <a:t>the reactant at the new equilibrium</a:t>
            </a:r>
            <a:r>
              <a:rPr lang="tr-TR" dirty="0" smtClean="0"/>
              <a:t> </a:t>
            </a:r>
            <a:r>
              <a:rPr lang="en-US" dirty="0" smtClean="0"/>
              <a:t>is also higher. (b) At the dotted line,</a:t>
            </a:r>
            <a:r>
              <a:rPr lang="tr-TR" dirty="0" smtClean="0"/>
              <a:t> </a:t>
            </a:r>
            <a:r>
              <a:rPr lang="en-US" dirty="0" smtClean="0"/>
              <a:t>when the system was at equilibrium,</a:t>
            </a:r>
            <a:r>
              <a:rPr lang="tr-TR" dirty="0" smtClean="0"/>
              <a:t> </a:t>
            </a:r>
            <a:r>
              <a:rPr lang="en-US" dirty="0" smtClean="0"/>
              <a:t>carbon monoxide gas (product) was</a:t>
            </a:r>
            <a:r>
              <a:rPr lang="tr-TR" dirty="0" smtClean="0"/>
              <a:t> </a:t>
            </a:r>
            <a:r>
              <a:rPr lang="en-US" dirty="0" smtClean="0"/>
              <a:t>removed from the system. As in (a), the</a:t>
            </a:r>
            <a:r>
              <a:rPr lang="tr-TR" dirty="0" smtClean="0"/>
              <a:t> </a:t>
            </a:r>
            <a:r>
              <a:rPr lang="en-US" dirty="0" smtClean="0"/>
              <a:t>equilibrium responded by shifting to</a:t>
            </a:r>
            <a:r>
              <a:rPr lang="tr-TR" dirty="0" smtClean="0"/>
              <a:t> </a:t>
            </a:r>
            <a:r>
              <a:rPr lang="en-US" dirty="0" smtClean="0"/>
              <a:t>the right, converting more reactant to</a:t>
            </a:r>
            <a:r>
              <a:rPr lang="tr-TR" dirty="0" smtClean="0"/>
              <a:t> </a:t>
            </a:r>
            <a:r>
              <a:rPr lang="en-US" dirty="0" smtClean="0"/>
              <a:t>products.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096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Example: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04800" y="1447800"/>
            <a:ext cx="8610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FFC000"/>
              </a:buClr>
            </a:pPr>
            <a:r>
              <a:rPr lang="en-US" sz="2400" i="1" dirty="0" smtClean="0">
                <a:latin typeface="Arial" pitchFamily="34" charset="0"/>
                <a:cs typeface="Arial" pitchFamily="34" charset="0"/>
              </a:rPr>
              <a:t>Example 18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Consider the reaction: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		2HI(g)   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  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+    I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		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An equilibrium mixture was found to contain 2 mol of HI, 1 mol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of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and 1 mol of I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in a 2-L vessel. At the same temperature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1 mol of HI is added to the vessel. Calculate the concentration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of each substance when new equilibrium is established.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33400" y="457200"/>
            <a:ext cx="6197146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2. Volume Changes or Effect of Pressure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447800"/>
            <a:ext cx="8991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Change in volume alters the concentrations of gas reactants and gas products. </a:t>
            </a:r>
          </a:p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According to Le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Chatelier’s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principle, when the volume of the system is decreased; the reaction shifts to the side having the smaller number of coefficients of  gases to decrease this effect.</a:t>
            </a:r>
          </a:p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When the volume of the system is increased; the reaction shifts to the side having the greater number of coefficients of  gases to decrease this effect.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8600" y="609600"/>
            <a:ext cx="6197146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2. Volume Changes or Effect of Pressure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" y="1600200"/>
            <a:ext cx="8610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For heterogeneous equilibrium the effect of volume is predicted by counting the number of moles of gas indicated on each side of an equation.</a:t>
            </a:r>
          </a:p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Change in pressure affects the equilibrium reaction conversely with respect to volume change.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28600" y="990600"/>
            <a:ext cx="86106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Example:</a:t>
            </a:r>
            <a:r>
              <a:rPr lang="en-US" sz="2400" i="1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Consider the reaction: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		2NH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(g)   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   3H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+    N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		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Following changes are applied. Try to predict how the reaction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respond to the these effects.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Increasing volume,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Decreasing volume,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Increasing pressure.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52400" y="1143000"/>
            <a:ext cx="88392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Solution: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	 	2NH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(g)   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   3H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+    N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		2 mol gas reactant 	     4 mol gas product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The reaction shifts forward, and concentration of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and N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will increase and that of NH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will decrease. 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The reaction shifts backward, and concentration of 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and N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will decrease and that of NH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 will increase. 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Increasing pressure means decreasing volume. Thus it will have same effect in b.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04800" y="1447800"/>
            <a:ext cx="8610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Example: </a:t>
            </a:r>
          </a:p>
          <a:p>
            <a:pPr marL="457200" indent="-457200"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Consider the reaction: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		CaCO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(s)   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   CO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+    </a:t>
            </a:r>
            <a:r>
              <a:rPr lang="en-US" sz="2400" dirty="0" err="1" smtClean="0">
                <a:latin typeface="Arial" pitchFamily="34" charset="0"/>
                <a:cs typeface="Arial" pitchFamily="34" charset="0"/>
                <a:sym typeface="Symbol"/>
              </a:rPr>
              <a:t>CaO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(s)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Following changes are applied. How the reaction will the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reaction shift to reestablish equilibrium.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Increasing pressure,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Decreasing volume,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Increasing volume.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52400" y="1395948"/>
            <a:ext cx="8839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Solution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	 	 CaCO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(s)   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   CO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+    </a:t>
            </a:r>
            <a:r>
              <a:rPr lang="en-US" sz="2400" dirty="0" err="1" smtClean="0">
                <a:latin typeface="Arial" pitchFamily="34" charset="0"/>
                <a:cs typeface="Arial" pitchFamily="34" charset="0"/>
                <a:sym typeface="Symbol"/>
              </a:rPr>
              <a:t>CaO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(s)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		0 mol gas reactant 	     1 mol gas product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Increasing pressure means decreasing volume. The reaction shifts backward.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The reaction shifts backward.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The reaction shifts forward.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4800" y="765844"/>
            <a:ext cx="3685240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3. Effect of 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98756"/>
            <a:ext cx="434340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Effect of temperature can be understood by knowing whether the reaction is exothermic or endothermic.</a:t>
            </a:r>
          </a:p>
        </p:txBody>
      </p:sp>
      <p:pic>
        <p:nvPicPr>
          <p:cNvPr id="218113" name="Picture 1" descr="I:\PPTs Preparation Materials\Chemical Equilibrium\Equilibrium-Photos\Temperature Changes Affect an Equilibrium Syste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572294"/>
            <a:ext cx="4114800" cy="2945725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304800" y="4495800"/>
            <a:ext cx="8610600" cy="2239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In endothermic reactions when temperature is increased the reaction will proceed to forward to eliminate effect.</a:t>
            </a:r>
          </a:p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In exothermic reactions when temperature is increased the reaction will move backward to minimize effect.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04800" y="1776948"/>
            <a:ext cx="8610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FFC000"/>
              </a:buClr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sz="2400" i="1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Consider the reaction: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	2H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O(g)   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   2H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+    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   </a:t>
            </a:r>
            <a:r>
              <a:rPr lang="el-GR" sz="2400" dirty="0" smtClean="0">
                <a:latin typeface="Arial" pitchFamily="34" charset="0"/>
                <a:cs typeface="Arial" pitchFamily="34" charset="0"/>
                <a:sym typeface="Symbol"/>
              </a:rPr>
              <a:t>Δ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H = +136.6 kcal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Following changes are applied. How the reaction will the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reaction shift to reestablish equilibrium.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Increasing temperature,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Decreasing temperature.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81000" y="914400"/>
            <a:ext cx="8610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Solution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	2H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O(g)   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   2H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+    O</a:t>
            </a:r>
            <a:r>
              <a:rPr lang="en-US" sz="2400" baseline="-25000" dirty="0" smtClean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(g)      </a:t>
            </a:r>
            <a:r>
              <a:rPr lang="el-GR" sz="2400" dirty="0" smtClean="0">
                <a:latin typeface="Arial" pitchFamily="34" charset="0"/>
                <a:cs typeface="Arial" pitchFamily="34" charset="0"/>
                <a:sym typeface="Symbol"/>
              </a:rPr>
              <a:t>Δ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H = +136.6 kcal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The reaction is endothermic.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Forward reaction needs energy to take place, if temperature is increased it will be in favor of forward reaction. The reaction will shift forward.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  <a:buFont typeface="+mj-lt"/>
              <a:buAutoNum type="alphaLcPeriod"/>
            </a:pPr>
            <a:r>
              <a:rPr lang="en-US" sz="2400" dirty="0" smtClean="0">
                <a:latin typeface="Arial" pitchFamily="34" charset="0"/>
                <a:cs typeface="Arial" pitchFamily="34" charset="0"/>
                <a:sym typeface="Symbol"/>
              </a:rPr>
              <a:t>Reverse reaction is exothermic. If temperature is decreased it will be in favor of reverse reaction. The reaction will shift backward.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8600" y="304800"/>
            <a:ext cx="2844881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4. Effect of 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990600"/>
            <a:ext cx="861060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Catalyst does not effect equilibrium reactions and Kc.</a:t>
            </a:r>
          </a:p>
          <a:p>
            <a:pPr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They effect both forward and reverse reactions equally, therefore they cause the reactions to reach equilibrium in a shorter time.      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438400"/>
            <a:ext cx="7086600" cy="3811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066800"/>
            <a:ext cx="8763000" cy="4198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04800"/>
            <a:ext cx="50338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Quantitative Changes</a:t>
            </a:r>
            <a:r>
              <a:rPr lang="tr-TR" sz="2000" b="1" dirty="0" smtClean="0"/>
              <a:t>  in equilibrium systems </a:t>
            </a:r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609600" y="914400"/>
            <a:ext cx="2707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The Reaction Quotient (</a:t>
            </a:r>
            <a:r>
              <a:rPr lang="en-US" i="1" dirty="0" smtClean="0"/>
              <a:t>Q)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15240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reaction quotient (</a:t>
            </a:r>
            <a:r>
              <a:rPr lang="en-US" i="1" dirty="0" smtClean="0"/>
              <a:t>Q) the product of the</a:t>
            </a:r>
          </a:p>
          <a:p>
            <a:r>
              <a:rPr lang="en-US" dirty="0" smtClean="0"/>
              <a:t>concentrations of the products, divided by</a:t>
            </a:r>
          </a:p>
          <a:p>
            <a:r>
              <a:rPr lang="en-US" dirty="0" smtClean="0"/>
              <a:t>the product of the concentrations of the</a:t>
            </a:r>
          </a:p>
          <a:p>
            <a:r>
              <a:rPr lang="en-US" dirty="0" smtClean="0"/>
              <a:t>reactants, for a chemical reaction that is</a:t>
            </a:r>
          </a:p>
          <a:p>
            <a:r>
              <a:rPr lang="en-US" dirty="0" smtClean="0"/>
              <a:t>not necessarily at equilibrium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32004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instantaneous concentrations</a:t>
            </a:r>
          </a:p>
          <a:p>
            <a:r>
              <a:rPr lang="en-US" dirty="0" smtClean="0"/>
              <a:t>concentrations that occur together at a</a:t>
            </a:r>
          </a:p>
          <a:p>
            <a:r>
              <a:rPr lang="en-US" dirty="0" smtClean="0"/>
              <a:t>particular instant in time in the progress</a:t>
            </a:r>
          </a:p>
          <a:p>
            <a:r>
              <a:rPr lang="en-US" dirty="0" smtClean="0"/>
              <a:t>of a chemical reaction</a:t>
            </a:r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495800"/>
            <a:ext cx="654367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81000"/>
            <a:ext cx="86106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The Reaction Quotient, Qc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	Qc helps us predict the direction in which a reaction mixture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will proceed to reach equilibrium.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Kc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is determined when the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reaction is at equilibrium at constant temperature. Qc is</a:t>
            </a:r>
          </a:p>
          <a:p>
            <a:pPr marL="457200" indent="-457200">
              <a:lnSpc>
                <a:spcPct val="150000"/>
              </a:lnSpc>
              <a:buClr>
                <a:srgbClr val="FFC000"/>
              </a:buClr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determined when the reaction is at non equilibrium conditions.</a:t>
            </a:r>
          </a:p>
          <a:p>
            <a:pPr marL="914400" lvl="1" indent="-457200"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Qc =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Kc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then the reaction is at equilibrium.</a:t>
            </a:r>
          </a:p>
          <a:p>
            <a:pPr marL="914400" lvl="1" indent="-457200"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Qc&gt;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Kc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, then the reverse reaction takes place to establish equilibrium.</a:t>
            </a:r>
          </a:p>
          <a:p>
            <a:pPr marL="914400" lvl="1" indent="-457200">
              <a:lnSpc>
                <a:spcPct val="150000"/>
              </a:lnSpc>
              <a:buClr>
                <a:srgbClr val="FFC000"/>
              </a:buClr>
              <a:buFont typeface="Arial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Qc&lt;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Kc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, then the forward reaction takes place to establish equilibrium.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304800"/>
            <a:ext cx="5038725" cy="6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457200"/>
            <a:ext cx="192405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533400"/>
            <a:ext cx="7553325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52400"/>
            <a:ext cx="56483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524000"/>
            <a:ext cx="8805863" cy="2781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990600"/>
            <a:ext cx="6705600" cy="4073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381000"/>
            <a:ext cx="200977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4800"/>
            <a:ext cx="64579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600200"/>
            <a:ext cx="7010400" cy="3636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914400"/>
            <a:ext cx="196215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066800"/>
            <a:ext cx="7848600" cy="3205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81000"/>
            <a:ext cx="394335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143000"/>
            <a:ext cx="735330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81000"/>
            <a:ext cx="825817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09600" y="16764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solubility the quantity of solute that</a:t>
            </a:r>
          </a:p>
          <a:p>
            <a:r>
              <a:rPr lang="en-US" dirty="0" smtClean="0"/>
              <a:t>dissolves in a given quantity of solvent at</a:t>
            </a:r>
          </a:p>
          <a:p>
            <a:r>
              <a:rPr lang="en-US" dirty="0" smtClean="0"/>
              <a:t>a particular temperature; the concentration</a:t>
            </a:r>
          </a:p>
          <a:p>
            <a:r>
              <a:rPr lang="en-US" dirty="0" smtClean="0"/>
              <a:t>of a saturated solution at a particular</a:t>
            </a:r>
          </a:p>
          <a:p>
            <a:r>
              <a:rPr lang="en-US" dirty="0" smtClean="0"/>
              <a:t>temperature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35052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solubility equilibrium a dynamic</a:t>
            </a:r>
          </a:p>
          <a:p>
            <a:r>
              <a:rPr lang="en-US" dirty="0" smtClean="0"/>
              <a:t>equilibrium between a solute and a solvent</a:t>
            </a:r>
          </a:p>
          <a:p>
            <a:r>
              <a:rPr lang="en-US" dirty="0" smtClean="0"/>
              <a:t>in a saturated solution in a closed system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4724400"/>
            <a:ext cx="3095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0" y="5334000"/>
            <a:ext cx="25431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85800" y="57912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solubility product constant (</a:t>
            </a:r>
            <a:r>
              <a:rPr lang="en-US" i="1" dirty="0" err="1" smtClean="0"/>
              <a:t>Ksp</a:t>
            </a:r>
            <a:r>
              <a:rPr lang="en-US" i="1" dirty="0" smtClean="0"/>
              <a:t>) the</a:t>
            </a:r>
          </a:p>
          <a:p>
            <a:r>
              <a:rPr lang="en-US" dirty="0" smtClean="0"/>
              <a:t>value obtained from the equilibrium law</a:t>
            </a:r>
          </a:p>
          <a:p>
            <a:r>
              <a:rPr lang="en-US" dirty="0" smtClean="0"/>
              <a:t>applied to a saturated solution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8839200" cy="176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250" y="1981200"/>
            <a:ext cx="8820150" cy="2562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71600"/>
            <a:ext cx="8991600" cy="349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81000"/>
            <a:ext cx="6477000" cy="410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838200"/>
            <a:ext cx="7086600" cy="274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4419600"/>
            <a:ext cx="7162800" cy="1690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3886200"/>
            <a:ext cx="274582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199" y="914400"/>
            <a:ext cx="8559409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599" y="228600"/>
            <a:ext cx="527633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762000"/>
            <a:ext cx="7167563" cy="5578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0480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trial ion product (</a:t>
            </a:r>
            <a:r>
              <a:rPr lang="en-US" b="1" i="1" dirty="0" smtClean="0"/>
              <a:t>Q) </a:t>
            </a:r>
            <a:r>
              <a:rPr lang="en-US" i="1" dirty="0" smtClean="0"/>
              <a:t>the product of</a:t>
            </a:r>
          </a:p>
          <a:p>
            <a:r>
              <a:rPr lang="en-US" dirty="0" smtClean="0"/>
              <a:t>the concentrations of ions in a specific</a:t>
            </a:r>
          </a:p>
          <a:p>
            <a:r>
              <a:rPr lang="en-US" dirty="0" smtClean="0"/>
              <a:t>solution raised to powers equal to their</a:t>
            </a:r>
          </a:p>
          <a:p>
            <a:r>
              <a:rPr lang="en-US" dirty="0" smtClean="0"/>
              <a:t>coefficients in the balanced chemical</a:t>
            </a:r>
          </a:p>
          <a:p>
            <a:r>
              <a:rPr lang="en-US" dirty="0" smtClean="0"/>
              <a:t>equation; can be used to predict the</a:t>
            </a:r>
          </a:p>
          <a:p>
            <a:r>
              <a:rPr lang="en-US" dirty="0" smtClean="0"/>
              <a:t>formation of a precipitate</a:t>
            </a: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133600"/>
            <a:ext cx="34480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819400"/>
            <a:ext cx="25050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3657600"/>
            <a:ext cx="7134225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914400"/>
            <a:ext cx="518160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33400"/>
            <a:ext cx="72104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3124200"/>
            <a:ext cx="719137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3505200"/>
            <a:ext cx="5143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04800"/>
            <a:ext cx="34004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087" y="1905000"/>
            <a:ext cx="8520113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57200" y="838200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common ion effect a reduction in the</a:t>
            </a:r>
            <a:r>
              <a:rPr lang="tr-TR" dirty="0" smtClean="0"/>
              <a:t> </a:t>
            </a:r>
            <a:r>
              <a:rPr lang="en-US" dirty="0" smtClean="0"/>
              <a:t>solubility of an ionic compound due to the</a:t>
            </a:r>
          </a:p>
          <a:p>
            <a:r>
              <a:rPr lang="en-US" dirty="0" smtClean="0"/>
              <a:t>presence of a common ion in solution</a:t>
            </a: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295400"/>
            <a:ext cx="7686675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897</Words>
  <Application>Microsoft Office PowerPoint</Application>
  <PresentationFormat>On-screen Show (4:3)</PresentationFormat>
  <Paragraphs>162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Equilibrium law the mathematical description of a  chemical system at equilibrium   Equilibrium constant (K) a constant numerical value defining the equilibrium law for a given system: units are not included when giving the value of K</vt:lpstr>
      <vt:lpstr>Slide 12</vt:lpstr>
      <vt:lpstr>Slide 13</vt:lpstr>
      <vt:lpstr>Slide 14</vt:lpstr>
      <vt:lpstr>Slide 15</vt:lpstr>
      <vt:lpstr>Slide 16</vt:lpstr>
      <vt:lpstr>Slide 17</vt:lpstr>
      <vt:lpstr>The Equilibrium Constant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istikbal</dc:creator>
  <cp:lastModifiedBy>istikbal</cp:lastModifiedBy>
  <cp:revision>109</cp:revision>
  <dcterms:created xsi:type="dcterms:W3CDTF">2006-08-16T00:00:00Z</dcterms:created>
  <dcterms:modified xsi:type="dcterms:W3CDTF">2017-11-08T04:53:31Z</dcterms:modified>
</cp:coreProperties>
</file>