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2.jpeg" ContentType="image/jpeg"/>
  <Override PartName="/ppt/media/image3.jpeg" ContentType="image/jpeg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EEEEEE"/>
        </a:solidFill>
        <a:effectLst/>
        <a:uFillTx/>
        <a:latin typeface="Helvetica Neue Bold Condensed"/>
        <a:ea typeface="Helvetica Neue Bold Condensed"/>
        <a:cs typeface="Helvetica Neue Bold Condensed"/>
        <a:sym typeface="Helvetica Neue Bold Condense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 b="def" i="def"/>
      <a:tcStyle>
        <a:tcBdr/>
        <a:fill>
          <a:solidFill>
            <a:srgbClr val="DDDBCF"/>
          </a:solidFill>
        </a:fill>
      </a:tcStyle>
    </a:band2H>
    <a:firstCo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AC9C8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4C8"/>
          </a:solidFill>
        </a:fill>
      </a:tcStyle>
    </a:firstCol>
    <a:la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878889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78889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DBDBD"/>
          </a:solidFill>
        </a:fill>
      </a:tcStyle>
    </a:lastRow>
    <a:fir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8F2817"/>
              </a:solidFill>
              <a:prstDash val="solid"/>
              <a:miter lim="400000"/>
            </a:ln>
          </a:bottom>
          <a:insideH>
            <a:ln w="12700" cap="flat">
              <a:solidFill>
                <a:srgbClr val="8F2817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8341D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C9C88"/>
              </a:solidFill>
              <a:prstDash val="solid"/>
              <a:miter lim="400000"/>
            </a:ln>
          </a:top>
          <a:bottom>
            <a:ln w="12700" cap="flat">
              <a:solidFill>
                <a:srgbClr val="AC9C88"/>
              </a:solidFill>
              <a:prstDash val="solid"/>
              <a:miter lim="400000"/>
            </a:ln>
          </a:bottom>
          <a:insideH>
            <a:ln w="12700" cap="flat">
              <a:solidFill>
                <a:srgbClr val="AC9C8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EEE0"/>
          </a:solidFill>
        </a:fill>
      </a:tcStyle>
    </a:wholeTbl>
    <a:band2H>
      <a:tcTxStyle b="def" i="def"/>
      <a:tcStyle>
        <a:tcBdr/>
        <a:fill>
          <a:solidFill>
            <a:srgbClr val="F0EEE0">
              <a:alpha val="93000"/>
            </a:srgbClr>
          </a:solidFill>
        </a:fill>
      </a:tcStyle>
    </a:band2H>
    <a:firstCo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solidFill>
                <a:srgbClr val="5F5857"/>
              </a:solidFill>
              <a:prstDash val="solid"/>
              <a:miter lim="400000"/>
            </a:ln>
          </a:left>
          <a:right>
            <a:ln w="25400" cap="flat">
              <a:solidFill>
                <a:srgbClr val="AC9C88"/>
              </a:solidFill>
              <a:prstDash val="solid"/>
              <a:miter lim="400000"/>
            </a:ln>
          </a:right>
          <a:top>
            <a:ln w="12700" cap="flat">
              <a:solidFill>
                <a:srgbClr val="AC9C88"/>
              </a:solidFill>
              <a:prstDash val="solid"/>
              <a:miter lim="400000"/>
            </a:ln>
          </a:top>
          <a:bottom>
            <a:ln w="12700" cap="flat">
              <a:solidFill>
                <a:srgbClr val="AC9C88"/>
              </a:solidFill>
              <a:prstDash val="solid"/>
              <a:miter lim="400000"/>
            </a:ln>
          </a:bottom>
          <a:insideH>
            <a:ln w="12700" cap="flat">
              <a:solidFill>
                <a:srgbClr val="AC9C8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F5857"/>
              </a:solidFill>
              <a:prstDash val="solid"/>
              <a:miter lim="400000"/>
            </a:ln>
          </a:bottom>
          <a:insideH>
            <a:ln w="12700" cap="flat">
              <a:solidFill>
                <a:srgbClr val="97231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F5857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B14019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C9C88"/>
              </a:solidFill>
              <a:prstDash val="solid"/>
              <a:miter lim="400000"/>
            </a:ln>
          </a:top>
          <a:bottom>
            <a:ln w="12700" cap="flat">
              <a:solidFill>
                <a:srgbClr val="AC9C88"/>
              </a:solidFill>
              <a:prstDash val="solid"/>
              <a:miter lim="400000"/>
            </a:ln>
          </a:bottom>
          <a:insideH>
            <a:ln w="12700" cap="flat">
              <a:solidFill>
                <a:srgbClr val="AC9C8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EEE0"/>
          </a:solidFill>
        </a:fill>
      </a:tcStyle>
    </a:wholeTbl>
    <a:band2H>
      <a:tcTxStyle b="def" i="def"/>
      <a:tcStyle>
        <a:tcBdr/>
        <a:fill>
          <a:solidFill>
            <a:srgbClr val="F0EEE0">
              <a:alpha val="93000"/>
            </a:srgbClr>
          </a:solidFill>
        </a:fill>
      </a:tcStyle>
    </a:band2H>
    <a:firstCo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C9C88"/>
              </a:solidFill>
              <a:prstDash val="solid"/>
              <a:miter lim="400000"/>
            </a:ln>
          </a:top>
          <a:bottom>
            <a:ln w="12700" cap="flat">
              <a:solidFill>
                <a:srgbClr val="AC9C88"/>
              </a:solidFill>
              <a:prstDash val="solid"/>
              <a:miter lim="400000"/>
            </a:ln>
          </a:bottom>
          <a:insideH>
            <a:ln w="12700" cap="flat">
              <a:solidFill>
                <a:srgbClr val="AC9C8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4C8"/>
          </a:solidFill>
        </a:fill>
      </a:tcStyle>
    </a:firstCol>
    <a:la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29124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4AA2A"/>
          </a:solidFill>
        </a:fill>
      </a:tcStyle>
    </a:lastRow>
    <a:fir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58585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97979">
                  <a:alpha val="38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797979">
                  <a:alpha val="38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797979">
                  <a:alpha val="38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86B5C3">
              <a:alpha val="14000"/>
            </a:srgbClr>
          </a:solidFill>
        </a:fill>
      </a:tcStyle>
    </a:band2H>
    <a:firstCo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6B5C3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86B5C3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86B5C3">
                  <a:alpha val="75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6B5C3">
                  <a:alpha val="75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6B5C3">
                  <a:alpha val="75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solidFill>
                <a:srgbClr val="9F9F9F"/>
              </a:solidFill>
              <a:prstDash val="solid"/>
              <a:miter lim="400000"/>
            </a:ln>
          </a:left>
          <a:right>
            <a:ln w="12700" cap="flat">
              <a:solidFill>
                <a:srgbClr val="9F9F9F"/>
              </a:solidFill>
              <a:prstDash val="solid"/>
              <a:miter lim="400000"/>
            </a:ln>
          </a:right>
          <a:top>
            <a:ln w="12700" cap="flat">
              <a:solidFill>
                <a:srgbClr val="9F9F9F"/>
              </a:solidFill>
              <a:prstDash val="solid"/>
              <a:miter lim="400000"/>
            </a:ln>
          </a:top>
          <a:bottom>
            <a:ln w="12700" cap="flat">
              <a:solidFill>
                <a:srgbClr val="9F9F9F"/>
              </a:solidFill>
              <a:prstDash val="solid"/>
              <a:miter lim="400000"/>
            </a:ln>
          </a:bottom>
          <a:insideH>
            <a:ln w="12700" cap="flat">
              <a:solidFill>
                <a:srgbClr val="9F9F9F"/>
              </a:solidFill>
              <a:prstDash val="solid"/>
              <a:miter lim="400000"/>
            </a:ln>
          </a:insideH>
          <a:insideV>
            <a:ln w="12700" cap="flat">
              <a:solidFill>
                <a:srgbClr val="9F9F9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979">
              <a:alpha val="38000"/>
            </a:srgbClr>
          </a:solidFill>
        </a:fill>
      </a:tcStyle>
    </a:band2H>
    <a:firstCol>
      <a:tcTxStyle b="on" i="off">
        <a:font>
          <a:latin typeface="Helvetica Neue Bold Condensed"/>
          <a:ea typeface="Helvetica Neue Bold Condensed"/>
          <a:cs typeface="Helvetica Neue Bold Condensed"/>
        </a:font>
        <a:srgbClr val="2D2D2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ABABA"/>
          </a:solidFill>
        </a:fill>
      </a:tcStyle>
    </a:firstCol>
    <a:la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25A5D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B8B8B"/>
          </a:solidFill>
        </a:fill>
      </a:tcStyle>
    </a:lastRow>
    <a:fir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25A5D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B8B8B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979">
              <a:alpha val="25000"/>
            </a:srgbClr>
          </a:solidFill>
        </a:fill>
      </a:tcStyle>
    </a:band2H>
    <a:firstCol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 Bold Condensed"/>
          <a:ea typeface="Helvetica Neue Bold Condensed"/>
          <a:cs typeface="Helvetica Neue Bold Condensed"/>
        </a:font>
        <a:srgbClr val="FFFFFF"/>
      </a:tcTxStyle>
      <a:tcStyle>
        <a:tcBdr>
          <a:left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>
                  <a:alpha val="4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2.png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tif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tif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/>
          <p:nvPr>
            <p:ph type="title"/>
          </p:nvPr>
        </p:nvSpPr>
        <p:spPr>
          <a:xfrm>
            <a:off x="1270000" y="1943100"/>
            <a:ext cx="10464800" cy="2997200"/>
          </a:xfrm>
          <a:prstGeom prst="rect">
            <a:avLst/>
          </a:prstGeom>
        </p:spPr>
        <p:txBody>
          <a:bodyPr anchor="b"/>
          <a:lstStyle>
            <a:lvl1pPr>
              <a:defRPr spc="-128" sz="64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/>
          <p:nvPr>
            <p:ph type="body" sz="quarter" idx="1"/>
          </p:nvPr>
        </p:nvSpPr>
        <p:spPr>
          <a:xfrm>
            <a:off x="1270000" y="5029200"/>
            <a:ext cx="10464800" cy="21844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  <a:lvl2pPr marL="0" indent="228600" algn="ctr">
              <a:spcBef>
                <a:spcPts val="0"/>
              </a:spcBef>
              <a:buSzTx/>
              <a:buNone/>
              <a:defRPr sz="2400"/>
            </a:lvl2pPr>
            <a:lvl3pPr marL="0" indent="457200" algn="ctr">
              <a:spcBef>
                <a:spcPts val="0"/>
              </a:spcBef>
              <a:buSzTx/>
              <a:buNone/>
              <a:defRPr sz="2400"/>
            </a:lvl3pPr>
            <a:lvl4pPr marL="0" indent="685800" algn="ctr">
              <a:spcBef>
                <a:spcPts val="0"/>
              </a:spcBef>
              <a:buSzTx/>
              <a:buNone/>
              <a:defRPr sz="2400"/>
            </a:lvl4pPr>
            <a:lvl5pPr marL="0" indent="914400" algn="ctr">
              <a:spcBef>
                <a:spcPts val="0"/>
              </a:spcBef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/>
          <p:nvPr>
            <p:ph type="sldNum" sz="quarter" idx="2"/>
          </p:nvPr>
        </p:nvSpPr>
        <p:spPr>
          <a:xfrm>
            <a:off x="6305296" y="9017050"/>
            <a:ext cx="406909" cy="380900"/>
          </a:xfrm>
          <a:prstGeom prst="rect">
            <a:avLst/>
          </a:prstGeom>
        </p:spPr>
        <p:txBody>
          <a:bodyPr anchor="ctr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Line" descr="Lin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34473" y="8193634"/>
            <a:ext cx="3457771" cy="71843"/>
          </a:xfrm>
          <a:prstGeom prst="rect">
            <a:avLst/>
          </a:prstGeom>
        </p:spPr>
      </p:pic>
      <p:sp>
        <p:nvSpPr>
          <p:cNvPr id="22" name="Image"/>
          <p:cNvSpPr/>
          <p:nvPr>
            <p:ph type="pic" idx="13"/>
          </p:nvPr>
        </p:nvSpPr>
        <p:spPr>
          <a:xfrm>
            <a:off x="387350" y="400050"/>
            <a:ext cx="12217400" cy="6267286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3" name="Title Text"/>
          <p:cNvSpPr/>
          <p:nvPr>
            <p:ph type="title"/>
          </p:nvPr>
        </p:nvSpPr>
        <p:spPr>
          <a:xfrm>
            <a:off x="635000" y="6845300"/>
            <a:ext cx="11734800" cy="1219200"/>
          </a:xfrm>
          <a:prstGeom prst="rect">
            <a:avLst/>
          </a:prstGeom>
        </p:spPr>
        <p:txBody>
          <a:bodyPr anchor="b"/>
          <a:lstStyle>
            <a:lvl1pPr>
              <a:defRPr spc="-128" sz="6400"/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/>
          <p:nvPr>
            <p:ph type="body" sz="quarter" idx="1"/>
          </p:nvPr>
        </p:nvSpPr>
        <p:spPr>
          <a:xfrm>
            <a:off x="635000" y="8318500"/>
            <a:ext cx="11734800" cy="876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  <a:lvl2pPr marL="0" indent="228600" algn="ctr">
              <a:spcBef>
                <a:spcPts val="0"/>
              </a:spcBef>
              <a:buSzTx/>
              <a:buNone/>
              <a:defRPr sz="2400"/>
            </a:lvl2pPr>
            <a:lvl3pPr marL="0" indent="457200" algn="ctr">
              <a:spcBef>
                <a:spcPts val="0"/>
              </a:spcBef>
              <a:buSzTx/>
              <a:buNone/>
              <a:defRPr sz="2400"/>
            </a:lvl3pPr>
            <a:lvl4pPr marL="0" indent="685800" algn="ctr">
              <a:spcBef>
                <a:spcPts val="0"/>
              </a:spcBef>
              <a:buSzTx/>
              <a:buNone/>
              <a:defRPr sz="2400"/>
            </a:lvl4pPr>
            <a:lvl5pPr marL="0" indent="914400" algn="ctr">
              <a:spcBef>
                <a:spcPts val="0"/>
              </a:spcBef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/>
          <p:nvPr>
            <p:ph type="title"/>
          </p:nvPr>
        </p:nvSpPr>
        <p:spPr>
          <a:xfrm>
            <a:off x="1270000" y="3505200"/>
            <a:ext cx="10464800" cy="2730500"/>
          </a:xfrm>
          <a:prstGeom prst="rect">
            <a:avLst/>
          </a:prstGeom>
        </p:spPr>
        <p:txBody>
          <a:bodyPr/>
          <a:lstStyle>
            <a:lvl1pPr>
              <a:defRPr spc="-128" sz="64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Line" descr="Lin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6047" y="5082129"/>
            <a:ext cx="4512624" cy="71848"/>
          </a:xfrm>
          <a:prstGeom prst="rect">
            <a:avLst/>
          </a:prstGeom>
        </p:spPr>
      </p:pic>
      <p:sp>
        <p:nvSpPr>
          <p:cNvPr id="42" name="Image"/>
          <p:cNvSpPr/>
          <p:nvPr>
            <p:ph type="pic" sz="half" idx="13"/>
          </p:nvPr>
        </p:nvSpPr>
        <p:spPr>
          <a:xfrm>
            <a:off x="6807200" y="762000"/>
            <a:ext cx="5334000" cy="8229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3" name="Title Text"/>
          <p:cNvSpPr/>
          <p:nvPr>
            <p:ph type="title"/>
          </p:nvPr>
        </p:nvSpPr>
        <p:spPr>
          <a:xfrm>
            <a:off x="762000" y="774700"/>
            <a:ext cx="5588000" cy="41021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/>
          <p:nvPr>
            <p:ph type="body" sz="quarter" idx="1"/>
          </p:nvPr>
        </p:nvSpPr>
        <p:spPr>
          <a:xfrm>
            <a:off x="762000" y="5372100"/>
            <a:ext cx="5588000" cy="3619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  <a:lvl2pPr marL="0" indent="228600" algn="ctr">
              <a:spcBef>
                <a:spcPts val="0"/>
              </a:spcBef>
              <a:buSzTx/>
              <a:buNone/>
              <a:defRPr sz="2400"/>
            </a:lvl2pPr>
            <a:lvl3pPr marL="0" indent="457200" algn="ctr">
              <a:spcBef>
                <a:spcPts val="0"/>
              </a:spcBef>
              <a:buSzTx/>
              <a:buNone/>
              <a:defRPr sz="2400"/>
            </a:lvl3pPr>
            <a:lvl4pPr marL="0" indent="685800" algn="ctr">
              <a:spcBef>
                <a:spcPts val="0"/>
              </a:spcBef>
              <a:buSzTx/>
              <a:buNone/>
              <a:defRPr sz="2400"/>
            </a:lvl4pPr>
            <a:lvl5pPr marL="0" indent="914400" algn="ctr">
              <a:spcBef>
                <a:spcPts val="0"/>
              </a:spcBef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Line" descr="Lin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0083" y="2732634"/>
            <a:ext cx="10908152" cy="71905"/>
          </a:xfrm>
          <a:prstGeom prst="rect">
            <a:avLst/>
          </a:prstGeom>
        </p:spPr>
      </p:pic>
      <p:sp>
        <p:nvSpPr>
          <p:cNvPr id="54" name="Title Tex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5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Line" descr="Lin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0083" y="2732634"/>
            <a:ext cx="10908152" cy="71905"/>
          </a:xfrm>
          <a:prstGeom prst="rect">
            <a:avLst/>
          </a:prstGeom>
        </p:spPr>
      </p:pic>
      <p:sp>
        <p:nvSpPr>
          <p:cNvPr id="64" name="Title Tex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5" name="Body Level One…"/>
          <p:cNvSpPr/>
          <p:nvPr>
            <p:ph type="body" idx="1"/>
          </p:nvPr>
        </p:nvSpPr>
        <p:spPr>
          <a:xfrm>
            <a:off x="1270000" y="3263900"/>
            <a:ext cx="10464800" cy="5715000"/>
          </a:xfrm>
          <a:prstGeom prst="rect">
            <a:avLst/>
          </a:prstGeom>
        </p:spPr>
        <p:txBody>
          <a:bodyPr/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Line" descr="Lin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0083" y="2732634"/>
            <a:ext cx="10908152" cy="71905"/>
          </a:xfrm>
          <a:prstGeom prst="rect">
            <a:avLst/>
          </a:prstGeom>
        </p:spPr>
      </p:pic>
      <p:sp>
        <p:nvSpPr>
          <p:cNvPr id="75" name="Image"/>
          <p:cNvSpPr/>
          <p:nvPr>
            <p:ph type="pic" sz="half" idx="13"/>
          </p:nvPr>
        </p:nvSpPr>
        <p:spPr>
          <a:xfrm>
            <a:off x="1181100" y="3380452"/>
            <a:ext cx="5461000" cy="53086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76" name="Title Tex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Body Level One…"/>
          <p:cNvSpPr/>
          <p:nvPr>
            <p:ph type="body" sz="half" idx="1"/>
          </p:nvPr>
        </p:nvSpPr>
        <p:spPr>
          <a:xfrm>
            <a:off x="7200900" y="3340100"/>
            <a:ext cx="4826000" cy="538480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3000"/>
              </a:spcBef>
              <a:buBlip>
                <a:blip r:embed="rId3"/>
              </a:buBlip>
              <a:defRPr sz="2600"/>
            </a:lvl1pPr>
            <a:lvl2pPr marL="914400" indent="-457200">
              <a:spcBef>
                <a:spcPts val="3000"/>
              </a:spcBef>
              <a:buBlip>
                <a:blip r:embed="rId3"/>
              </a:buBlip>
              <a:defRPr sz="2600"/>
            </a:lvl2pPr>
            <a:lvl3pPr marL="1371600" indent="-457200">
              <a:spcBef>
                <a:spcPts val="3000"/>
              </a:spcBef>
              <a:buBlip>
                <a:blip r:embed="rId3"/>
              </a:buBlip>
              <a:defRPr sz="2600"/>
            </a:lvl3pPr>
            <a:lvl4pPr marL="1828800" indent="-457200">
              <a:spcBef>
                <a:spcPts val="3000"/>
              </a:spcBef>
              <a:buBlip>
                <a:blip r:embed="rId3"/>
              </a:buBlip>
              <a:defRPr sz="2600"/>
            </a:lvl4pPr>
            <a:lvl5pPr marL="2286000" indent="-457200">
              <a:spcBef>
                <a:spcPts val="3000"/>
              </a:spcBef>
              <a:buBlip>
                <a:blip r:embed="rId3"/>
              </a:buBlip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/>
          <p:nvPr>
            <p:ph type="pic" sz="quarter" idx="13"/>
          </p:nvPr>
        </p:nvSpPr>
        <p:spPr>
          <a:xfrm>
            <a:off x="6692900" y="5082252"/>
            <a:ext cx="5334000" cy="38989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4" name="Image"/>
          <p:cNvSpPr/>
          <p:nvPr>
            <p:ph type="pic" sz="quarter" idx="14"/>
          </p:nvPr>
        </p:nvSpPr>
        <p:spPr>
          <a:xfrm>
            <a:off x="6699118" y="751552"/>
            <a:ext cx="5334001" cy="38989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5" name="Image"/>
          <p:cNvSpPr/>
          <p:nvPr>
            <p:ph type="pic" sz="half" idx="15"/>
          </p:nvPr>
        </p:nvSpPr>
        <p:spPr>
          <a:xfrm>
            <a:off x="965200" y="762000"/>
            <a:ext cx="5334000" cy="8229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96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/>
          <p:nvPr>
            <p:ph type="body" sz="quarter" idx="13"/>
          </p:nvPr>
        </p:nvSpPr>
        <p:spPr>
          <a:xfrm>
            <a:off x="1270000" y="6362700"/>
            <a:ext cx="10464800" cy="6477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200"/>
              </a:spcBef>
              <a:buSzTx/>
              <a:buNone/>
              <a:defRPr sz="3600">
                <a:solidFill>
                  <a:srgbClr val="222222"/>
                </a:solidFill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104" name="“Type a quote here.”"/>
          <p:cNvSpPr/>
          <p:nvPr>
            <p:ph type="body" sz="quarter" idx="14"/>
          </p:nvPr>
        </p:nvSpPr>
        <p:spPr>
          <a:xfrm>
            <a:off x="1270000" y="4241799"/>
            <a:ext cx="10464800" cy="736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20000"/>
              </a:lnSpc>
              <a:buSzTx/>
              <a:buNone/>
              <a:defRPr b="1" spc="-126" sz="4200"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05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3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 -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 - Alt 2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tif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/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/>
          <p:nvPr>
            <p:ph type="title"/>
          </p:nvPr>
        </p:nvSpPr>
        <p:spPr>
          <a:xfrm>
            <a:off x="1270000" y="698500"/>
            <a:ext cx="10464800" cy="190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/>
          <p:nvPr>
            <p:ph type="sldNum" sz="quarter" idx="2"/>
          </p:nvPr>
        </p:nvSpPr>
        <p:spPr>
          <a:xfrm>
            <a:off x="6292596" y="9017000"/>
            <a:ext cx="406909" cy="380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1" sz="1800">
                <a:solidFill>
                  <a:srgbClr val="F1F1F1"/>
                </a:solidFill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44" strike="noStrike" sz="4800" u="none">
          <a:ln>
            <a:noFill/>
          </a:ln>
          <a:solidFill>
            <a:srgbClr val="EEEEEE"/>
          </a:solidFill>
          <a:uFillTx/>
          <a:latin typeface="+mn-lt"/>
          <a:ea typeface="+mn-ea"/>
          <a:cs typeface="+mn-cs"/>
          <a:sym typeface="Superclarendon"/>
        </a:defRPr>
      </a:lvl9pPr>
    </p:titleStyle>
    <p:bodyStyle>
      <a:lvl1pPr marL="6223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1pPr>
      <a:lvl2pPr marL="12446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2pPr>
      <a:lvl3pPr marL="18669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3pPr>
      <a:lvl4pPr marL="24892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4pPr>
      <a:lvl5pPr marL="31115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5pPr>
      <a:lvl6pPr marL="37338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6pPr>
      <a:lvl7pPr marL="43561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7pPr>
      <a:lvl8pPr marL="49784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8pPr>
      <a:lvl9pPr marL="5600700" marR="0" indent="-6223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65000"/>
        <a:buFontTx/>
        <a:buBlip>
          <a:blip r:embed="rId3"/>
        </a:buBlip>
        <a:tabLst/>
        <a:defRPr b="0" baseline="0" cap="none" i="0" spc="0" strike="noStrike" sz="3400" u="none">
          <a:ln>
            <a:noFill/>
          </a:ln>
          <a:solidFill>
            <a:srgbClr val="EEEEEE"/>
          </a:solidFill>
          <a:uFillTx/>
          <a:latin typeface="Helvetica Neue Bold Condensed"/>
          <a:ea typeface="Helvetica Neue Bold Condensed"/>
          <a:cs typeface="Helvetica Neue Bold Condensed"/>
          <a:sym typeface="Helvetica Neue Bold Condense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uperclarendon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tif"/><Relationship Id="rId3" Type="http://schemas.openxmlformats.org/officeDocument/2006/relationships/image" Target="../media/image20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2.6 Natural Polymers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2.6 Natural Polymers</a:t>
            </a:r>
          </a:p>
        </p:txBody>
      </p:sp>
      <p:sp>
        <p:nvSpPr>
          <p:cNvPr id="144" name="by Zeynep Guven…"/>
          <p:cNvSpPr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43305">
              <a:defRPr sz="2232">
                <a:solidFill>
                  <a:srgbClr val="506C50"/>
                </a:solidFill>
              </a:defRPr>
            </a:pPr>
            <a:r>
              <a:t>by Zeynep Guven</a:t>
            </a:r>
          </a:p>
          <a:p>
            <a:pPr defTabSz="543305">
              <a:defRPr sz="2232">
                <a:solidFill>
                  <a:srgbClr val="506C50"/>
                </a:solidFill>
              </a:defRPr>
            </a:pPr>
            <a:r>
              <a:t>SCH4U</a:t>
            </a:r>
          </a:p>
          <a:p>
            <a:pPr defTabSz="543305">
              <a:defRPr sz="2232">
                <a:solidFill>
                  <a:srgbClr val="506C50"/>
                </a:solidFill>
              </a:defRPr>
            </a:pPr>
            <a:r>
              <a:t>Istikbal Turut </a:t>
            </a:r>
          </a:p>
          <a:p>
            <a:pPr defTabSz="543305">
              <a:defRPr sz="2232"/>
            </a:pPr>
            <a:r>
              <a:rPr>
                <a:solidFill>
                  <a:srgbClr val="506C50"/>
                </a:solidFill>
              </a:rPr>
              <a:t>Nile Academy</a:t>
            </a:r>
            <a:endParaRPr>
              <a:solidFill>
                <a:srgbClr val="506C50"/>
              </a:solidFill>
            </a:endParaRPr>
          </a:p>
          <a:p>
            <a:pPr defTabSz="543305">
              <a:defRPr sz="2232"/>
            </a:pPr>
            <a:r>
              <a:rPr>
                <a:solidFill>
                  <a:srgbClr val="506C50"/>
                </a:solidFill>
              </a:rPr>
              <a:t>November, 1st  2017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olysaccharides"/>
          <p:cNvSpPr/>
          <p:nvPr>
            <p:ph type="title"/>
          </p:nvPr>
        </p:nvSpPr>
        <p:spPr>
          <a:xfrm>
            <a:off x="2223054" y="899538"/>
            <a:ext cx="10464801" cy="1905001"/>
          </a:xfrm>
          <a:prstGeom prst="rect">
            <a:avLst/>
          </a:prstGeom>
        </p:spPr>
        <p:txBody>
          <a:bodyPr/>
          <a:lstStyle/>
          <a:p>
            <a:pPr algn="l" defTabSz="457200">
              <a:lnSpc>
                <a:spcPts val="9800"/>
              </a:lnSpc>
              <a:spcBef>
                <a:spcPts val="1200"/>
              </a:spcBef>
              <a:defRPr spc="0" sz="6400"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Polysaccharides</a:t>
            </a:r>
            <a:r>
              <a:t> </a:t>
            </a:r>
            <a:endParaRPr b="0" sz="1200"/>
          </a:p>
        </p:txBody>
      </p:sp>
      <p:sp>
        <p:nvSpPr>
          <p:cNvPr id="147" name="A carbohydrate, such as starch or cellulose, is a polymer of monosaccharides, or simple sugars. A monosaccharide is a ketone or aldehyde with many additional hydroxyl substituents. For example, glucose has a hexagonal structure with five hydroxyl groups."/>
          <p:cNvSpPr/>
          <p:nvPr>
            <p:ph type="body" sz="half" idx="1"/>
          </p:nvPr>
        </p:nvSpPr>
        <p:spPr>
          <a:xfrm>
            <a:off x="807967" y="5943994"/>
            <a:ext cx="11412384" cy="2961214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b="1" sz="2400">
                <a:latin typeface="+mn-lt"/>
                <a:ea typeface="+mn-ea"/>
                <a:cs typeface="+mn-cs"/>
                <a:sym typeface="Superclarendon"/>
              </a:defRPr>
            </a:pPr>
            <a:r>
              <a:rPr>
                <a:solidFill>
                  <a:srgbClr val="FFFFFF"/>
                </a:solidFill>
              </a:rPr>
              <a:t>A </a:t>
            </a:r>
            <a:r>
              <a:rPr>
                <a:solidFill>
                  <a:srgbClr val="FF5D5C"/>
                </a:solidFill>
              </a:rPr>
              <a:t>carbohydrate</a:t>
            </a:r>
            <a:r>
              <a:rPr>
                <a:solidFill>
                  <a:srgbClr val="FFFFFF"/>
                </a:solidFill>
              </a:rPr>
              <a:t>, such as starch or cellulose, is a polymer of monosaccharides, </a:t>
            </a:r>
            <a:r>
              <a:rPr b="0">
                <a:solidFill>
                  <a:srgbClr val="FFFFFF"/>
                </a:solidFill>
              </a:rPr>
              <a:t>or</a:t>
            </a:r>
            <a:r>
              <a:rPr>
                <a:solidFill>
                  <a:srgbClr val="FFFFFF"/>
                </a:solidFill>
              </a:rPr>
              <a:t> simple sugars. A </a:t>
            </a:r>
            <a:r>
              <a:rPr>
                <a:solidFill>
                  <a:srgbClr val="FF5D5C"/>
                </a:solidFill>
              </a:rPr>
              <a:t>monosaccharide</a:t>
            </a:r>
            <a:r>
              <a:rPr>
                <a:solidFill>
                  <a:srgbClr val="FFFFFF"/>
                </a:solidFill>
              </a:rPr>
              <a:t> is a ketone or aldehyde with many additional hydroxyl substituents. For example, glucose has a hexagonal structure with five hydroxyl groups.</a:t>
            </a:r>
            <a:r>
              <a:t> </a:t>
            </a:r>
            <a:endParaRPr sz="1200"/>
          </a:p>
        </p:txBody>
      </p:sp>
      <p:pic>
        <p:nvPicPr>
          <p:cNvPr id="148" name="Screen Shot 2017-11-01 at 6.40.53 PM.png" descr="Screen Shot 2017-11-01 at 6.40.5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5777" y="3055834"/>
            <a:ext cx="4165215" cy="28421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Screen Shot 2017-11-01 at 6.49.48 PM.png" descr="Screen Shot 2017-11-01 at 6.49.4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32683" y="3055834"/>
            <a:ext cx="4890541" cy="28421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When monosaccharide rings join together, they form large polymers consisting of many monosaccharide units. Such a polymer is called a polysaccharide. The third important polysaccharide, along with cellulose and glycogen, is starch."/>
          <p:cNvSpPr/>
          <p:nvPr/>
        </p:nvSpPr>
        <p:spPr>
          <a:xfrm>
            <a:off x="897717" y="6378201"/>
            <a:ext cx="11209365" cy="199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/>
            </a:pPr>
            <a:r>
              <a:rPr>
                <a:latin typeface="+mn-lt"/>
                <a:ea typeface="+mn-ea"/>
                <a:cs typeface="+mn-cs"/>
                <a:sym typeface="Superclarendon"/>
              </a:rPr>
              <a:t>When monosaccharide rings join together, they form large polymers consisting of many monosaccharide units. Such a polymer is called a </a:t>
            </a:r>
            <a:r>
              <a:rPr>
                <a:solidFill>
                  <a:srgbClr val="FF5D5C"/>
                </a:solidFill>
                <a:latin typeface="+mn-lt"/>
                <a:ea typeface="+mn-ea"/>
                <a:cs typeface="+mn-cs"/>
                <a:sym typeface="Superclarendon"/>
              </a:rPr>
              <a:t>polysaccharide</a:t>
            </a:r>
            <a:r>
              <a:rPr>
                <a:latin typeface="+mn-lt"/>
                <a:ea typeface="+mn-ea"/>
                <a:cs typeface="+mn-cs"/>
                <a:sym typeface="Superclarendon"/>
              </a:rPr>
              <a:t>. The third important polysaccharide, along with cellulose and glycogen, is starch</a:t>
            </a:r>
            <a:r>
              <a:rPr b="1">
                <a:latin typeface="+mn-lt"/>
                <a:ea typeface="+mn-ea"/>
                <a:cs typeface="+mn-cs"/>
                <a:sym typeface="Superclarendon"/>
              </a:rPr>
              <a:t>.</a:t>
            </a:r>
            <a:r>
              <a:t> </a:t>
            </a:r>
          </a:p>
        </p:txBody>
      </p:sp>
      <p:pic>
        <p:nvPicPr>
          <p:cNvPr id="152" name="Screen Shot 2017-11-01 at 7.18.25 PM.png" descr="Screen Shot 2017-11-01 at 7.18.2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093" y="2570349"/>
            <a:ext cx="11760614" cy="324270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circle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roteins"/>
          <p:cNvSpPr/>
          <p:nvPr>
            <p:ph type="title"/>
          </p:nvPr>
        </p:nvSpPr>
        <p:spPr>
          <a:xfrm>
            <a:off x="1281758" y="698500"/>
            <a:ext cx="10464801" cy="1905000"/>
          </a:xfrm>
          <a:prstGeom prst="rect">
            <a:avLst/>
          </a:prstGeom>
        </p:spPr>
        <p:txBody>
          <a:bodyPr/>
          <a:lstStyle/>
          <a:p>
            <a:pPr/>
            <a:r>
              <a:rPr spc="-192" sz="6400"/>
              <a:t>Proteins</a:t>
            </a:r>
            <a:r>
              <a:t> </a:t>
            </a:r>
          </a:p>
        </p:txBody>
      </p:sp>
      <p:sp>
        <p:nvSpPr>
          <p:cNvPr id="155" name="All proteins are made of amino acids. An amino acid is an organic molecule that contains a carboxyl group (–COOH), an amino group (–NH2), and a hydrogen atom all attached to the same carbon atom.…"/>
          <p:cNvSpPr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479044">
              <a:spcBef>
                <a:spcPts val="0"/>
              </a:spcBef>
              <a:buSzTx/>
              <a:buNone/>
              <a:defRPr sz="1968">
                <a:latin typeface="+mn-lt"/>
                <a:ea typeface="+mn-ea"/>
                <a:cs typeface="+mn-cs"/>
                <a:sym typeface="Superclarendon"/>
              </a:defRPr>
            </a:pPr>
            <a:r>
              <a:t>All proteins are made of amino acids. An </a:t>
            </a:r>
            <a:r>
              <a:rPr>
                <a:solidFill>
                  <a:srgbClr val="FF5D5C"/>
                </a:solidFill>
              </a:rPr>
              <a:t>amino acid</a:t>
            </a:r>
            <a:r>
              <a:t> is an organic molecule that contains a carboxyl group (–COOH), an amino group (–NH2), and a hydrogen atom all attached to the same carbon atom. </a:t>
            </a:r>
          </a:p>
          <a:p>
            <a:pPr marL="0" indent="0" algn="ctr" defTabSz="479044">
              <a:spcBef>
                <a:spcPts val="0"/>
              </a:spcBef>
              <a:buSzTx/>
              <a:buNone/>
              <a:defRPr sz="1968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 algn="ctr" defTabSz="479044">
              <a:spcBef>
                <a:spcPts val="0"/>
              </a:spcBef>
              <a:buSzTx/>
              <a:buNone/>
              <a:defRPr sz="1968">
                <a:latin typeface="+mn-lt"/>
                <a:ea typeface="+mn-ea"/>
                <a:cs typeface="+mn-cs"/>
                <a:sym typeface="Superclarendon"/>
              </a:defRPr>
            </a:pPr>
            <a:r>
              <a:t>The fourth bond on that carbon atom links to an additional group or chain of atoms, generically designated as </a:t>
            </a:r>
            <a:r>
              <a:rPr>
                <a:solidFill>
                  <a:srgbClr val="FF5D5C"/>
                </a:solidFill>
              </a:rPr>
              <a:t>R</a:t>
            </a:r>
            <a:r>
              <a:t>. The nature of this group </a:t>
            </a:r>
            <a:r>
              <a:rPr>
                <a:solidFill>
                  <a:srgbClr val="73EEBB"/>
                </a:solidFill>
              </a:rPr>
              <a:t>gives each amino acid its distinct properties. </a:t>
            </a:r>
            <a:endParaRPr>
              <a:solidFill>
                <a:srgbClr val="73EEBB"/>
              </a:solidFill>
            </a:endParaRPr>
          </a:p>
          <a:p>
            <a:pPr marL="0" indent="0" algn="ctr" defTabSz="479044">
              <a:spcBef>
                <a:spcPts val="0"/>
              </a:spcBef>
              <a:buSzTx/>
              <a:buNone/>
              <a:defRPr sz="1968">
                <a:latin typeface="+mn-lt"/>
                <a:ea typeface="+mn-ea"/>
                <a:cs typeface="+mn-cs"/>
                <a:sym typeface="Superclarendon"/>
              </a:defRPr>
            </a:pPr>
          </a:p>
        </p:txBody>
      </p:sp>
      <p:pic>
        <p:nvPicPr>
          <p:cNvPr id="156" name="Screen Shot 2017-11-01 at 7.23.53 PM.png" descr="Screen Shot 2017-11-01 at 7.23.5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43232" y="3537729"/>
            <a:ext cx="4558393" cy="41498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eptid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92" sz="6400"/>
            </a:lvl1pPr>
          </a:lstStyle>
          <a:p>
            <a:pPr/>
            <a:r>
              <a:t>Peptide</a:t>
            </a:r>
          </a:p>
        </p:txBody>
      </p:sp>
      <p:sp>
        <p:nvSpPr>
          <p:cNvPr id="159" name="A protein polymer is built by condensation reactions between amino acids. A peptide is two or more amino acids linked together through a condensation reaction between the amine and acid groups."/>
          <p:cNvSpPr/>
          <p:nvPr>
            <p:ph type="body" sz="half" idx="1"/>
          </p:nvPr>
        </p:nvSpPr>
        <p:spPr>
          <a:xfrm>
            <a:off x="977899" y="6214835"/>
            <a:ext cx="11049001" cy="2510065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  <a:r>
              <a:t>A protein polymer is built by condensation reactions between amino acids. A </a:t>
            </a:r>
            <a:r>
              <a:rPr>
                <a:solidFill>
                  <a:srgbClr val="EEB153"/>
                </a:solidFill>
              </a:rPr>
              <a:t>peptide</a:t>
            </a:r>
            <a:r>
              <a:t> is two or more amino acids linked together through a </a:t>
            </a:r>
            <a:r>
              <a:rPr>
                <a:solidFill>
                  <a:srgbClr val="AC8DEE"/>
                </a:solidFill>
              </a:rPr>
              <a:t>condensation reaction between the amine and acid groups. </a:t>
            </a:r>
            <a:endParaRPr sz="1200">
              <a:solidFill>
                <a:srgbClr val="AC8DEE"/>
              </a:solidFill>
            </a:endParaRPr>
          </a:p>
        </p:txBody>
      </p:sp>
      <p:pic>
        <p:nvPicPr>
          <p:cNvPr id="160" name="Screen Shot 2017-11-01 at 7.32.26 PM.png" descr="Screen Shot 2017-11-01 at 7.32.2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28121" y="3165901"/>
            <a:ext cx="8172076" cy="29890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rotein Structure"/>
          <p:cNvSpPr/>
          <p:nvPr>
            <p:ph type="title"/>
          </p:nvPr>
        </p:nvSpPr>
        <p:spPr>
          <a:xfrm>
            <a:off x="1281758" y="711855"/>
            <a:ext cx="10464801" cy="1905001"/>
          </a:xfrm>
          <a:prstGeom prst="rect">
            <a:avLst/>
          </a:prstGeom>
        </p:spPr>
        <p:txBody>
          <a:bodyPr/>
          <a:lstStyle/>
          <a:p>
            <a:pPr/>
            <a:r>
              <a:rPr spc="-192" sz="6400"/>
              <a:t>Protein Structure</a:t>
            </a:r>
            <a:r>
              <a:t> </a:t>
            </a:r>
          </a:p>
        </p:txBody>
      </p:sp>
      <p:sp>
        <p:nvSpPr>
          <p:cNvPr id="163" name="For example, one possible sequence for a tripeptide (a chain of three amino acids joined by peptide bonds) containing lysine, alanine, and leucine."/>
          <p:cNvSpPr/>
          <p:nvPr>
            <p:ph type="body" sz="quarter" idx="1"/>
          </p:nvPr>
        </p:nvSpPr>
        <p:spPr>
          <a:xfrm>
            <a:off x="7454240" y="5484420"/>
            <a:ext cx="5366410" cy="33671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  <a:r>
              <a:t>For example, one possible sequence for a </a:t>
            </a:r>
            <a:r>
              <a:rPr>
                <a:solidFill>
                  <a:srgbClr val="EE96B5"/>
                </a:solidFill>
              </a:rPr>
              <a:t>tripeptide</a:t>
            </a:r>
            <a:r>
              <a:rPr>
                <a:solidFill>
                  <a:srgbClr val="AC8DEE"/>
                </a:solidFill>
              </a:rPr>
              <a:t> (a chain of three amino acids joined by peptide bonds)</a:t>
            </a:r>
            <a:r>
              <a:t> containing lysine, alanine, and leucine. </a:t>
            </a:r>
            <a:endParaRPr sz="1200"/>
          </a:p>
        </p:txBody>
      </p:sp>
      <p:sp>
        <p:nvSpPr>
          <p:cNvPr id="164" name="The sequence of amino acids in the protein chain is called the primary structure. Bio- chemists use the convention that the terminal carboxyl group is on the right and the terminal amino group is on the left."/>
          <p:cNvSpPr/>
          <p:nvPr/>
        </p:nvSpPr>
        <p:spPr>
          <a:xfrm>
            <a:off x="834151" y="6202835"/>
            <a:ext cx="6154899" cy="3132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400"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The sequence of amino acids in the protein chain is called the primary structure. Bio- chemists use the convention that the terminal carboxyl group is on the right and the terminal amino group is on the left. </a:t>
            </a:r>
          </a:p>
        </p:txBody>
      </p:sp>
      <p:pic>
        <p:nvPicPr>
          <p:cNvPr id="165" name="Screen Shot 2017-11-01 at 7.41.54 PM.png" descr="Screen Shot 2017-11-01 at 7.41.5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35927" y="2920317"/>
            <a:ext cx="6542067" cy="31667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he 20 amino acids all have different side chains (R groups), shown in red.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67359">
              <a:defRPr spc="-115" sz="3840"/>
            </a:pPr>
            <a:r>
              <a:t>The 20 amino acids all have different side chains (R groups), </a:t>
            </a:r>
            <a:r>
              <a:rPr>
                <a:solidFill>
                  <a:srgbClr val="D91024"/>
                </a:solidFill>
              </a:rPr>
              <a:t>shown in</a:t>
            </a:r>
            <a:r>
              <a:t> </a:t>
            </a:r>
            <a:r>
              <a:rPr>
                <a:solidFill>
                  <a:srgbClr val="D91024"/>
                </a:solidFill>
              </a:rPr>
              <a:t>red</a:t>
            </a:r>
            <a:r>
              <a:t>.  </a:t>
            </a:r>
          </a:p>
        </p:txBody>
      </p:sp>
      <p:sp>
        <p:nvSpPr>
          <p:cNvPr id="168" name="Aromatic R Groups"/>
          <p:cNvSpPr/>
          <p:nvPr/>
        </p:nvSpPr>
        <p:spPr>
          <a:xfrm>
            <a:off x="3859783" y="2933672"/>
            <a:ext cx="5285233" cy="647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82BA5F"/>
                </a:solidFill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Aromatic R Groups</a:t>
            </a:r>
          </a:p>
        </p:txBody>
      </p:sp>
      <p:pic>
        <p:nvPicPr>
          <p:cNvPr id="169" name="Screen Shot 2017-11-01 at 7.46.40 PM.png" descr="Screen Shot 2017-11-01 at 7.46.4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9252" y="3519318"/>
            <a:ext cx="8806296" cy="56540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wipe dir="r"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"/>
          <p:cNvSpPr/>
          <p:nvPr/>
        </p:nvSpPr>
        <p:spPr>
          <a:xfrm>
            <a:off x="6502400" y="4565649"/>
            <a:ext cx="12700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3100"/>
              </a:lnSpc>
              <a:spcBef>
                <a:spcPts val="1200"/>
              </a:spcBef>
              <a:defRPr b="1" sz="1333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pPr>
            <a:endParaRPr b="0" sz="1200"/>
          </a:p>
        </p:txBody>
      </p:sp>
      <p:sp>
        <p:nvSpPr>
          <p:cNvPr id="172" name="Polar, Uncharged R Groups"/>
          <p:cNvSpPr/>
          <p:nvPr/>
        </p:nvSpPr>
        <p:spPr>
          <a:xfrm>
            <a:off x="2821431" y="562942"/>
            <a:ext cx="7488937" cy="647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EEB153"/>
                </a:solidFill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Polar, Uncharged R Groups</a:t>
            </a:r>
          </a:p>
        </p:txBody>
      </p:sp>
      <p:pic>
        <p:nvPicPr>
          <p:cNvPr id="173" name="Screen Shot 2017-11-01 at 7.54.34 PM.png" descr="Screen Shot 2017-11-01 at 7.54.3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86348" y="1388745"/>
            <a:ext cx="7832104" cy="751792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ll dir="l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Non-polar, Aliphatic R Groups"/>
          <p:cNvSpPr/>
          <p:nvPr/>
        </p:nvSpPr>
        <p:spPr>
          <a:xfrm>
            <a:off x="2415946" y="689612"/>
            <a:ext cx="8172908" cy="647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85B2EB"/>
                </a:solidFill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Non-polar, Aliphatic R Groups</a:t>
            </a:r>
          </a:p>
        </p:txBody>
      </p:sp>
      <p:pic>
        <p:nvPicPr>
          <p:cNvPr id="176" name="Screen Shot 2017-11-01 at 7.57.26 PM.png" descr="Screen Shot 2017-11-01 at 7.57.2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7890" y="1360251"/>
            <a:ext cx="8757145" cy="78353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prism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ositively Charged R Groups"/>
          <p:cNvSpPr/>
          <p:nvPr/>
        </p:nvSpPr>
        <p:spPr>
          <a:xfrm>
            <a:off x="2581681" y="626277"/>
            <a:ext cx="7841438" cy="647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E7EE89"/>
                </a:solidFill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Positively Charged R Groups</a:t>
            </a:r>
          </a:p>
        </p:txBody>
      </p:sp>
      <p:pic>
        <p:nvPicPr>
          <p:cNvPr id="179" name="Screen Shot 2017-11-01 at 8.00.11 PM.png" descr="Screen Shot 2017-11-01 at 8.00.1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2759" y="1379528"/>
            <a:ext cx="9999282" cy="74700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14:flip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Negatively Charged R Groups"/>
          <p:cNvSpPr/>
          <p:nvPr/>
        </p:nvSpPr>
        <p:spPr>
          <a:xfrm>
            <a:off x="2454122" y="520719"/>
            <a:ext cx="8096556" cy="647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solidFill>
                  <a:srgbClr val="AC8DEE"/>
                </a:solidFill>
                <a:latin typeface="+mn-lt"/>
                <a:ea typeface="+mn-ea"/>
                <a:cs typeface="+mn-cs"/>
                <a:sym typeface="Superclarendon"/>
              </a:defRPr>
            </a:lvl1pPr>
          </a:lstStyle>
          <a:p>
            <a:pPr/>
            <a:r>
              <a:t>Negatively Charged R Groups</a:t>
            </a:r>
          </a:p>
        </p:txBody>
      </p:sp>
      <p:pic>
        <p:nvPicPr>
          <p:cNvPr id="182" name="Screen Shot 2017-11-01 at 8.04.26 PM.png" descr="Screen Shot 2017-11-01 at 8.04.2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30216" y="1629522"/>
            <a:ext cx="7944368" cy="56500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push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Nucleic Acids"/>
          <p:cNvSpPr/>
          <p:nvPr>
            <p:ph type="title"/>
          </p:nvPr>
        </p:nvSpPr>
        <p:spPr>
          <a:xfrm>
            <a:off x="1270000" y="698500"/>
            <a:ext cx="10464800" cy="2657104"/>
          </a:xfrm>
          <a:prstGeom prst="rect">
            <a:avLst/>
          </a:prstGeom>
        </p:spPr>
        <p:txBody>
          <a:bodyPr/>
          <a:lstStyle>
            <a:lvl1pPr>
              <a:defRPr spc="-192" sz="6400"/>
            </a:lvl1pPr>
          </a:lstStyle>
          <a:p>
            <a:pPr/>
            <a:r>
              <a:t>Nucleic Acids </a:t>
            </a:r>
          </a:p>
        </p:txBody>
      </p:sp>
      <p:sp>
        <p:nvSpPr>
          <p:cNvPr id="185" name="DNA (deoxyribonucleic acid): a polymer in the cell nucleus that stores and transmits genetic information.…"/>
          <p:cNvSpPr/>
          <p:nvPr>
            <p:ph type="body" sz="half" idx="1"/>
          </p:nvPr>
        </p:nvSpPr>
        <p:spPr>
          <a:xfrm>
            <a:off x="8016601" y="2109560"/>
            <a:ext cx="4417112" cy="713847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  <a:r>
              <a:rPr>
                <a:solidFill>
                  <a:srgbClr val="FF858C"/>
                </a:solidFill>
              </a:rPr>
              <a:t>DNA (deoxyribonucleic acid):</a:t>
            </a:r>
            <a:r>
              <a:t> a polymer in the cell nucleus that stores and transmits genetic information. 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  <a:r>
              <a:rPr>
                <a:solidFill>
                  <a:srgbClr val="EEC158"/>
                </a:solidFill>
              </a:rPr>
              <a:t>RNA (ribonucleic acid):</a:t>
            </a:r>
            <a:r>
              <a:t> a polymer in the cell cytoplasm that stores and transmits genetic information.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Superclarendon"/>
              </a:defRPr>
            </a:pPr>
          </a:p>
        </p:txBody>
      </p:sp>
      <p:pic>
        <p:nvPicPr>
          <p:cNvPr id="186" name="Screen Shot 2017-11-01 at 8.14.02 PM.png" descr="Screen Shot 2017-11-01 at 8.14.0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454" y="3271460"/>
            <a:ext cx="7357991" cy="4143334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"/>
          <p:cNvSpPr/>
          <p:nvPr/>
        </p:nvSpPr>
        <p:spPr>
          <a:xfrm>
            <a:off x="6052654" y="4540656"/>
            <a:ext cx="899492" cy="67228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/>
          </a:p>
        </p:txBody>
      </p:sp>
      <p:sp>
        <p:nvSpPr>
          <p:cNvPr id="188" name="nucleic acid: the polymer molecules that make up DNA and RNA."/>
          <p:cNvSpPr/>
          <p:nvPr/>
        </p:nvSpPr>
        <p:spPr>
          <a:xfrm>
            <a:off x="596817" y="7881715"/>
            <a:ext cx="16291463" cy="700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>
                <a:latin typeface="+mn-lt"/>
                <a:ea typeface="+mn-ea"/>
                <a:cs typeface="+mn-cs"/>
                <a:sym typeface="Superclarendon"/>
              </a:defRPr>
            </a:pPr>
            <a:r>
              <a:rPr>
                <a:solidFill>
                  <a:srgbClr val="9C82EE"/>
                </a:solidFill>
              </a:rPr>
              <a:t>nucleic acid:</a:t>
            </a:r>
            <a:r>
              <a:t> the polymer molecules that make up DNA and RNA.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hree Parts of Nucleotides…"/>
          <p:cNvSpPr/>
          <p:nvPr>
            <p:ph type="body" sz="half" idx="1"/>
          </p:nvPr>
        </p:nvSpPr>
        <p:spPr>
          <a:xfrm>
            <a:off x="1270000" y="1270000"/>
            <a:ext cx="10464800" cy="2775363"/>
          </a:xfrm>
          <a:prstGeom prst="rect">
            <a:avLst/>
          </a:prstGeom>
        </p:spPr>
        <p:txBody>
          <a:bodyPr/>
          <a:lstStyle/>
          <a:p>
            <a:pPr marL="0" indent="0" algn="ctr" defTabSz="321310">
              <a:spcBef>
                <a:spcPts val="0"/>
              </a:spcBef>
              <a:buSzTx/>
              <a:buNone/>
              <a:defRPr sz="2640">
                <a:solidFill>
                  <a:srgbClr val="009193"/>
                </a:solidFill>
                <a:latin typeface="Superclarendon Black"/>
                <a:ea typeface="Superclarendon Black"/>
                <a:cs typeface="Superclarendon Black"/>
                <a:sym typeface="Superclarendon Black"/>
              </a:defRPr>
            </a:pPr>
            <a:r>
              <a:t>Three Parts of Nucleotides </a:t>
            </a:r>
          </a:p>
          <a:p>
            <a:pPr marL="0" indent="0" defTabSz="321310">
              <a:spcBef>
                <a:spcPts val="0"/>
              </a:spcBef>
              <a:buSzTx/>
              <a:buNone/>
              <a:defRPr b="1" sz="1980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 defTabSz="321310">
              <a:spcBef>
                <a:spcPts val="0"/>
              </a:spcBef>
              <a:buSzTx/>
              <a:buNone/>
              <a:defRPr b="1" sz="1980">
                <a:latin typeface="+mn-lt"/>
                <a:ea typeface="+mn-ea"/>
                <a:cs typeface="+mn-cs"/>
                <a:sym typeface="Superclarendon"/>
              </a:defRPr>
            </a:pPr>
            <a:r>
              <a:t>The monomers of the nucleic acids, called </a:t>
            </a:r>
            <a:r>
              <a:rPr>
                <a:solidFill>
                  <a:srgbClr val="0096FF"/>
                </a:solidFill>
              </a:rPr>
              <a:t>nucleotides</a:t>
            </a:r>
            <a:r>
              <a:t>, are composed of three distinct parts: </a:t>
            </a:r>
          </a:p>
          <a:p>
            <a:pPr marL="0" indent="0" defTabSz="321310">
              <a:spcBef>
                <a:spcPts val="0"/>
              </a:spcBef>
              <a:buSzTx/>
              <a:buNone/>
              <a:defRPr b="1" sz="1320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 defTabSz="321310">
              <a:spcBef>
                <a:spcPts val="0"/>
              </a:spcBef>
              <a:buSzTx/>
              <a:buNone/>
              <a:defRPr b="1" sz="1980">
                <a:latin typeface="+mn-lt"/>
                <a:ea typeface="+mn-ea"/>
                <a:cs typeface="+mn-cs"/>
                <a:sym typeface="Superclarendon"/>
              </a:defRPr>
            </a:pPr>
            <a:r>
              <a:rPr sz="2640">
                <a:solidFill>
                  <a:srgbClr val="D91024"/>
                </a:solidFill>
              </a:rPr>
              <a:t>1.</a:t>
            </a:r>
            <a:r>
              <a:rPr sz="2640">
                <a:solidFill>
                  <a:srgbClr val="82BA5F"/>
                </a:solidFill>
              </a:rPr>
              <a:t> a 5-carbon sugar:</a:t>
            </a:r>
            <a:r>
              <a:rPr sz="2640"/>
              <a:t> deoxyribose in DNA and ribose in RNA</a:t>
            </a:r>
            <a:r>
              <a:t> </a:t>
            </a:r>
          </a:p>
        </p:txBody>
      </p:sp>
      <p:pic>
        <p:nvPicPr>
          <p:cNvPr id="191" name="Screen Shot 2017-11-01 at 8.37.40 PM.png" descr="Screen Shot 2017-11-01 at 8.37.4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6314" y="3940836"/>
            <a:ext cx="10632172" cy="3347167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Deoxyribose"/>
          <p:cNvSpPr/>
          <p:nvPr/>
        </p:nvSpPr>
        <p:spPr>
          <a:xfrm>
            <a:off x="2682876" y="7164180"/>
            <a:ext cx="2403349" cy="67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 sz="2400">
                <a:latin typeface="+mn-lt"/>
                <a:ea typeface="+mn-ea"/>
                <a:cs typeface="+mn-cs"/>
                <a:sym typeface="Superclarendon"/>
              </a:rPr>
              <a:t>Deoxyribose</a:t>
            </a:r>
            <a:r>
              <a:t> </a:t>
            </a:r>
          </a:p>
        </p:txBody>
      </p:sp>
      <p:sp>
        <p:nvSpPr>
          <p:cNvPr id="193" name="Ribose"/>
          <p:cNvSpPr/>
          <p:nvPr/>
        </p:nvSpPr>
        <p:spPr>
          <a:xfrm>
            <a:off x="8942886" y="7164180"/>
            <a:ext cx="1410311" cy="67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 sz="2400">
                <a:latin typeface="+mn-lt"/>
                <a:ea typeface="+mn-ea"/>
                <a:cs typeface="+mn-cs"/>
                <a:sym typeface="Superclarendon"/>
              </a:rPr>
              <a:t>Ribose</a:t>
            </a: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he key to DNA’s functioning is its double-helical structure with complementary bases on the two strands. The bases form hydrogen bonds with each other.…"/>
          <p:cNvSpPr/>
          <p:nvPr>
            <p:ph type="body" sz="half" idx="1"/>
          </p:nvPr>
        </p:nvSpPr>
        <p:spPr>
          <a:xfrm>
            <a:off x="7995946" y="1708676"/>
            <a:ext cx="4437426" cy="6899113"/>
          </a:xfrm>
          <a:prstGeom prst="rect">
            <a:avLst/>
          </a:prstGeom>
        </p:spPr>
        <p:txBody>
          <a:bodyPr/>
          <a:lstStyle/>
          <a:p>
            <a:pPr marL="0" indent="0" defTabSz="484886">
              <a:spcBef>
                <a:spcPts val="0"/>
              </a:spcBef>
              <a:buSzTx/>
              <a:buNone/>
              <a:defRPr sz="1992"/>
            </a:pPr>
            <a:br/>
            <a:r>
              <a:rPr b="1">
                <a:latin typeface="+mn-lt"/>
                <a:ea typeface="+mn-ea"/>
                <a:cs typeface="+mn-cs"/>
                <a:sym typeface="Superclarendon"/>
              </a:rPr>
              <a:t>The key to DNA’s functioning is its </a:t>
            </a:r>
            <a:r>
              <a:rPr b="1">
                <a:solidFill>
                  <a:srgbClr val="FF9300"/>
                </a:solidFill>
                <a:latin typeface="+mn-lt"/>
                <a:ea typeface="+mn-ea"/>
                <a:cs typeface="+mn-cs"/>
                <a:sym typeface="Superclarendon"/>
              </a:rPr>
              <a:t>double-helical structure with complementary bases on the two strands.</a:t>
            </a:r>
            <a:r>
              <a:rPr b="1">
                <a:latin typeface="+mn-lt"/>
                <a:ea typeface="+mn-ea"/>
                <a:cs typeface="+mn-cs"/>
                <a:sym typeface="Superclarendon"/>
              </a:rPr>
              <a:t> The bases form hydrogen bonds with each other. </a:t>
            </a:r>
            <a:endParaRPr b="1">
              <a:latin typeface="+mn-lt"/>
              <a:ea typeface="+mn-ea"/>
              <a:cs typeface="+mn-cs"/>
              <a:sym typeface="Superclarendon"/>
            </a:endParaRPr>
          </a:p>
          <a:p>
            <a:pPr marL="0" indent="0" defTabSz="484886">
              <a:spcBef>
                <a:spcPts val="0"/>
              </a:spcBef>
              <a:buSzTx/>
              <a:buNone/>
              <a:defRPr b="1" sz="1992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 defTabSz="484886">
              <a:spcBef>
                <a:spcPts val="0"/>
              </a:spcBef>
              <a:buSzTx/>
              <a:buNone/>
              <a:defRPr b="1" sz="1992">
                <a:latin typeface="+mn-lt"/>
                <a:ea typeface="+mn-ea"/>
                <a:cs typeface="+mn-cs"/>
                <a:sym typeface="Superclarendon"/>
              </a:defRPr>
            </a:pPr>
            <a:r>
              <a:t>The structures of </a:t>
            </a:r>
            <a:r>
              <a:rPr>
                <a:solidFill>
                  <a:schemeClr val="accent1">
                    <a:hueOff val="62265"/>
                    <a:lumOff val="-7873"/>
                  </a:schemeClr>
                </a:solidFill>
              </a:rPr>
              <a:t>cytosine and guanine</a:t>
            </a:r>
            <a:r>
              <a:t> make them perfect partners for hydrogen bonding, and they are always found opposite each other on the two strands of DNA. </a:t>
            </a:r>
          </a:p>
          <a:p>
            <a:pPr marL="0" indent="0" defTabSz="484886">
              <a:spcBef>
                <a:spcPts val="0"/>
              </a:spcBef>
              <a:buSzTx/>
              <a:buNone/>
              <a:defRPr b="1" sz="1992">
                <a:latin typeface="+mn-lt"/>
                <a:ea typeface="+mn-ea"/>
                <a:cs typeface="+mn-cs"/>
                <a:sym typeface="Superclarendon"/>
              </a:defRPr>
            </a:pPr>
          </a:p>
          <a:p>
            <a:pPr marL="0" indent="0" defTabSz="484886">
              <a:spcBef>
                <a:spcPts val="0"/>
              </a:spcBef>
              <a:buSzTx/>
              <a:buNone/>
              <a:defRPr b="1" sz="1992">
                <a:latin typeface="+mn-lt"/>
                <a:ea typeface="+mn-ea"/>
                <a:cs typeface="+mn-cs"/>
                <a:sym typeface="Superclarendon"/>
              </a:defRPr>
            </a:pPr>
            <a:r>
              <a:rPr>
                <a:solidFill>
                  <a:srgbClr val="85B2EB"/>
                </a:solidFill>
              </a:rPr>
              <a:t>Thymine and adenine</a:t>
            </a:r>
            <a:r>
              <a:t> form similar hydrogen-bonding pairs. </a:t>
            </a:r>
          </a:p>
        </p:txBody>
      </p:sp>
      <p:pic>
        <p:nvPicPr>
          <p:cNvPr id="196" name="Screen Shot 2017-11-01 at 8.49.25 PM.png" descr="Screen Shot 2017-11-01 at 8.49.2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91105" y="2100081"/>
            <a:ext cx="3362434" cy="5553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Screen Shot 2017-11-01 at 8.50.23 PM.png" descr="Screen Shot 2017-11-01 at 8.50.2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5707" y="2100081"/>
            <a:ext cx="3616735" cy="5553438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2. a nitrogen-containing organic base"/>
          <p:cNvSpPr/>
          <p:nvPr/>
        </p:nvSpPr>
        <p:spPr>
          <a:xfrm>
            <a:off x="591770" y="764238"/>
            <a:ext cx="10520290" cy="103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/>
            </a:pPr>
            <a:r>
              <a:rPr b="1" sz="3600">
                <a:solidFill>
                  <a:srgbClr val="D91024"/>
                </a:solidFill>
                <a:latin typeface="+mn-lt"/>
                <a:ea typeface="+mn-ea"/>
                <a:cs typeface="+mn-cs"/>
                <a:sym typeface="Superclarendon"/>
              </a:rPr>
              <a:t>2.</a:t>
            </a:r>
            <a:r>
              <a:rPr b="1" sz="3600">
                <a:latin typeface="+mn-lt"/>
                <a:ea typeface="+mn-ea"/>
                <a:cs typeface="+mn-cs"/>
                <a:sym typeface="Superclarendon"/>
              </a:rPr>
              <a:t> a </a:t>
            </a:r>
            <a:r>
              <a:rPr b="1" sz="3600">
                <a:solidFill>
                  <a:srgbClr val="82BA5F"/>
                </a:solidFill>
                <a:latin typeface="+mn-lt"/>
                <a:ea typeface="+mn-ea"/>
                <a:cs typeface="+mn-cs"/>
                <a:sym typeface="Superclarendon"/>
              </a:rPr>
              <a:t>nitrogen</a:t>
            </a:r>
            <a:r>
              <a:rPr b="1" sz="3600">
                <a:latin typeface="+mn-lt"/>
                <a:ea typeface="+mn-ea"/>
                <a:cs typeface="+mn-cs"/>
                <a:sym typeface="Superclarendon"/>
              </a:rPr>
              <a:t>-containing </a:t>
            </a:r>
            <a:r>
              <a:rPr b="1" sz="3600">
                <a:solidFill>
                  <a:srgbClr val="82BA5F"/>
                </a:solidFill>
                <a:latin typeface="+mn-lt"/>
                <a:ea typeface="+mn-ea"/>
                <a:cs typeface="+mn-cs"/>
                <a:sym typeface="Superclarendon"/>
              </a:rPr>
              <a:t>organic base</a:t>
            </a:r>
            <a:b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warp dir="in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ody"/>
          <p:cNvSpPr/>
          <p:nvPr>
            <p:ph type="body" sz="half" idx="1"/>
          </p:nvPr>
        </p:nvSpPr>
        <p:spPr>
          <a:xfrm>
            <a:off x="4053609" y="3914324"/>
            <a:ext cx="7681191" cy="4569276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ts val="3400"/>
              </a:lnSpc>
              <a:spcBef>
                <a:spcPts val="1200"/>
              </a:spcBef>
              <a:buSzTx/>
              <a:buNone/>
              <a:defRPr sz="1466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pPr>
            <a:endParaRPr sz="1200"/>
          </a:p>
        </p:txBody>
      </p:sp>
      <p:sp>
        <p:nvSpPr>
          <p:cNvPr id="201" name="3. a phosphoric acid molecule, H3PO4"/>
          <p:cNvSpPr/>
          <p:nvPr/>
        </p:nvSpPr>
        <p:spPr>
          <a:xfrm>
            <a:off x="1353339" y="1292159"/>
            <a:ext cx="7259930" cy="681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22300" indent="-622300" algn="l">
              <a:spcBef>
                <a:spcPts val="4200"/>
              </a:spcBef>
              <a:buSzPct val="65000"/>
              <a:buBlip>
                <a:blip r:embed="rId2"/>
              </a:buBlip>
              <a:defRPr sz="3400"/>
            </a:pPr>
            <a:r>
              <a:rPr>
                <a:solidFill>
                  <a:srgbClr val="D91024"/>
                </a:solidFill>
              </a:rPr>
              <a:t>3.</a:t>
            </a:r>
            <a:r>
              <a:t> a </a:t>
            </a:r>
            <a:r>
              <a:rPr>
                <a:solidFill>
                  <a:srgbClr val="82BA5F"/>
                </a:solidFill>
              </a:rPr>
              <a:t>phosphoric acid</a:t>
            </a:r>
            <a:r>
              <a:t> molecule, </a:t>
            </a:r>
            <a:r>
              <a:rPr sz="3600">
                <a:solidFill>
                  <a:srgbClr val="82BA5F"/>
                </a:solidFill>
              </a:rPr>
              <a:t>H</a:t>
            </a:r>
            <a:r>
              <a:rPr baseline="-7407" sz="3600">
                <a:solidFill>
                  <a:srgbClr val="82BA5F"/>
                </a:solidFill>
              </a:rPr>
              <a:t>3</a:t>
            </a:r>
            <a:r>
              <a:rPr sz="3600">
                <a:solidFill>
                  <a:srgbClr val="82BA5F"/>
                </a:solidFill>
              </a:rPr>
              <a:t>PO</a:t>
            </a:r>
            <a:r>
              <a:rPr baseline="-7407" sz="3600">
                <a:solidFill>
                  <a:srgbClr val="82BA5F"/>
                </a:solidFill>
              </a:rPr>
              <a:t>4</a:t>
            </a:r>
            <a:r>
              <a:rPr baseline="-28571" sz="933"/>
              <a:t> </a:t>
            </a:r>
          </a:p>
        </p:txBody>
      </p:sp>
      <p:pic>
        <p:nvPicPr>
          <p:cNvPr id="202" name="Screen Shot 2017-11-01 at 9.13.22 PM.png" descr="Screen Shot 2017-11-01 at 9.13.2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9848" y="2085606"/>
            <a:ext cx="9985104" cy="6266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Screen Shot 2017-11-01 at 9.29.14 PM.png" descr="Screen Shot 2017-11-01 at 9.29.1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1487" y="-120940"/>
            <a:ext cx="12561826" cy="108675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push dir="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New_Template6">
  <a:themeElements>
    <a:clrScheme name="New_Template6">
      <a:dk1>
        <a:srgbClr val="000000"/>
      </a:dk1>
      <a:lt1>
        <a:srgbClr val="EEEEEE"/>
      </a:lt1>
      <a:dk2>
        <a:srgbClr val="3E4044"/>
      </a:dk2>
      <a:lt2>
        <a:srgbClr val="DCDDE0"/>
      </a:lt2>
      <a:accent1>
        <a:srgbClr val="0AB8BF"/>
      </a:accent1>
      <a:accent2>
        <a:srgbClr val="82B21C"/>
      </a:accent2>
      <a:accent3>
        <a:srgbClr val="E6A629"/>
      </a:accent3>
      <a:accent4>
        <a:srgbClr val="E86F1B"/>
      </a:accent4>
      <a:accent5>
        <a:srgbClr val="C4411D"/>
      </a:accent5>
      <a:accent6>
        <a:srgbClr val="795B8C"/>
      </a:accent6>
      <a:hlink>
        <a:srgbClr val="0000FF"/>
      </a:hlink>
      <a:folHlink>
        <a:srgbClr val="FF00FF"/>
      </a:folHlink>
    </a:clrScheme>
    <a:fontScheme name="New_Template6">
      <a:majorFont>
        <a:latin typeface="Superclarendon"/>
        <a:ea typeface="Superclarendon"/>
        <a:cs typeface="Superclarendon"/>
      </a:majorFont>
      <a:minorFont>
        <a:latin typeface="Superclarendon"/>
        <a:ea typeface="Superclarendon"/>
        <a:cs typeface="Superclarendon"/>
      </a:minorFont>
    </a:fontScheme>
    <a:fmtScheme name="New_Template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EEEEEE"/>
            </a:solidFill>
            <a:effectLst>
              <a:outerShdw sx="100000" sy="100000" kx="0" ky="0" algn="b" rotWithShape="0" blurRad="25400" dist="25400" dir="2388334">
                <a:srgbClr val="000000">
                  <a:alpha val="79310"/>
                </a:srgbClr>
              </a:outerShdw>
            </a:effectLst>
            <a:uFillTx/>
            <a:latin typeface="Helvetica Neue Bold Condensed"/>
            <a:ea typeface="Helvetica Neue Bold Condensed"/>
            <a:cs typeface="Helvetica Neue Bold Condensed"/>
            <a:sym typeface="Helvetica Neue Bold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800" u="none" kumimoji="0" normalizeH="0">
            <a:ln>
              <a:noFill/>
            </a:ln>
            <a:solidFill>
              <a:srgbClr val="EEEEEE"/>
            </a:solidFill>
            <a:effectLst/>
            <a:uFillTx/>
            <a:latin typeface="Helvetica Neue Bold Condensed"/>
            <a:ea typeface="Helvetica Neue Bold Condensed"/>
            <a:cs typeface="Helvetica Neue Bold Condensed"/>
            <a:sym typeface="Helvetica Neue Bold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6">
  <a:themeElements>
    <a:clrScheme name="New_Template6">
      <a:dk1>
        <a:srgbClr val="000000"/>
      </a:dk1>
      <a:lt1>
        <a:srgbClr val="FFFFFF"/>
      </a:lt1>
      <a:dk2>
        <a:srgbClr val="3E4044"/>
      </a:dk2>
      <a:lt2>
        <a:srgbClr val="DCDDE0"/>
      </a:lt2>
      <a:accent1>
        <a:srgbClr val="0AB8BF"/>
      </a:accent1>
      <a:accent2>
        <a:srgbClr val="82B21C"/>
      </a:accent2>
      <a:accent3>
        <a:srgbClr val="E6A629"/>
      </a:accent3>
      <a:accent4>
        <a:srgbClr val="E86F1B"/>
      </a:accent4>
      <a:accent5>
        <a:srgbClr val="C4411D"/>
      </a:accent5>
      <a:accent6>
        <a:srgbClr val="795B8C"/>
      </a:accent6>
      <a:hlink>
        <a:srgbClr val="0000FF"/>
      </a:hlink>
      <a:folHlink>
        <a:srgbClr val="FF00FF"/>
      </a:folHlink>
    </a:clrScheme>
    <a:fontScheme name="New_Template6">
      <a:majorFont>
        <a:latin typeface="Superclarendon"/>
        <a:ea typeface="Superclarendon"/>
        <a:cs typeface="Superclarendon"/>
      </a:majorFont>
      <a:minorFont>
        <a:latin typeface="Superclarendon"/>
        <a:ea typeface="Superclarendon"/>
        <a:cs typeface="Superclarendon"/>
      </a:minorFont>
    </a:fontScheme>
    <a:fmtScheme name="New_Template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EEEEEE"/>
            </a:solidFill>
            <a:effectLst>
              <a:outerShdw sx="100000" sy="100000" kx="0" ky="0" algn="b" rotWithShape="0" blurRad="25400" dist="25400" dir="2388334">
                <a:srgbClr val="000000">
                  <a:alpha val="79310"/>
                </a:srgbClr>
              </a:outerShdw>
            </a:effectLst>
            <a:uFillTx/>
            <a:latin typeface="Helvetica Neue Bold Condensed"/>
            <a:ea typeface="Helvetica Neue Bold Condensed"/>
            <a:cs typeface="Helvetica Neue Bold Condensed"/>
            <a:sym typeface="Helvetica Neue Bold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800" u="none" kumimoji="0" normalizeH="0">
            <a:ln>
              <a:noFill/>
            </a:ln>
            <a:solidFill>
              <a:srgbClr val="EEEEEE"/>
            </a:solidFill>
            <a:effectLst/>
            <a:uFillTx/>
            <a:latin typeface="Helvetica Neue Bold Condensed"/>
            <a:ea typeface="Helvetica Neue Bold Condensed"/>
            <a:cs typeface="Helvetica Neue Bold Condensed"/>
            <a:sym typeface="Helvetica Neue Bold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